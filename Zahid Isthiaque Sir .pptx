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4.jpg" ContentType="image/jpg"/>
  <Override PartName="/ppt/media/image8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2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2122" y="-1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004" y="1386966"/>
            <a:ext cx="5758840" cy="755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2004" y="3252596"/>
            <a:ext cx="5759450" cy="5614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6.xml"/><Relationship Id="rId7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0DCBAA-7A53-2F9D-947E-1C068076F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8BF0ECBE-6C84-46D9-39EB-00DB71F0F9C6}"/>
              </a:ext>
            </a:extLst>
          </p:cNvPr>
          <p:cNvSpPr txBox="1"/>
          <p:nvPr/>
        </p:nvSpPr>
        <p:spPr>
          <a:xfrm>
            <a:off x="425450" y="2146300"/>
            <a:ext cx="2438400" cy="1676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8070AA3E-5524-360F-04B1-CB5BD527C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5565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6" name="AutoShape 5" descr="No photo description available.">
            <a:extLst>
              <a:ext uri="{FF2B5EF4-FFF2-40B4-BE49-F238E27FC236}">
                <a16:creationId xmlns:a16="http://schemas.microsoft.com/office/drawing/2014/main" id="{5C265342-EF53-C4C0-DD16-9B59B3D1CC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5850" y="51943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1E4F723-0E2F-D859-F09E-04EE44265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3" y="-1063827"/>
            <a:ext cx="7556500" cy="11963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9" name="object 2">
            <a:extLst>
              <a:ext uri="{FF2B5EF4-FFF2-40B4-BE49-F238E27FC236}">
                <a16:creationId xmlns:a16="http://schemas.microsoft.com/office/drawing/2014/main" id="{7AFB1B0D-DDD0-021B-6432-5DC2FF2E8B3F}"/>
              </a:ext>
            </a:extLst>
          </p:cNvPr>
          <p:cNvSpPr txBox="1"/>
          <p:nvPr/>
        </p:nvSpPr>
        <p:spPr>
          <a:xfrm>
            <a:off x="1" y="42840"/>
            <a:ext cx="7502836" cy="7378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2120"/>
              </a:lnSpc>
              <a:spcBef>
                <a:spcPts val="90"/>
              </a:spcBef>
            </a:pPr>
            <a:r>
              <a:rPr sz="2050" b="1" cap="small" spc="55" dirty="0">
                <a:latin typeface="Times New Roman"/>
                <a:cs typeface="Times New Roman"/>
              </a:rPr>
              <a:t>Shahjalal</a:t>
            </a:r>
            <a:r>
              <a:rPr sz="2050" b="1" cap="small" spc="285" dirty="0">
                <a:latin typeface="Times New Roman"/>
                <a:cs typeface="Times New Roman"/>
              </a:rPr>
              <a:t> </a:t>
            </a:r>
            <a:r>
              <a:rPr sz="2050" b="1" cap="small" spc="70" dirty="0">
                <a:latin typeface="Times New Roman"/>
                <a:cs typeface="Times New Roman"/>
              </a:rPr>
              <a:t>University</a:t>
            </a:r>
            <a:r>
              <a:rPr sz="2050" b="1" cap="small" spc="355" dirty="0">
                <a:latin typeface="Times New Roman"/>
                <a:cs typeface="Times New Roman"/>
              </a:rPr>
              <a:t> </a:t>
            </a:r>
            <a:r>
              <a:rPr sz="2050" b="1" cap="small" dirty="0">
                <a:latin typeface="Times New Roman"/>
                <a:cs typeface="Times New Roman"/>
              </a:rPr>
              <a:t>of</a:t>
            </a:r>
            <a:r>
              <a:rPr sz="2050" b="1" cap="small" spc="245" dirty="0">
                <a:latin typeface="Times New Roman"/>
                <a:cs typeface="Times New Roman"/>
              </a:rPr>
              <a:t> </a:t>
            </a:r>
            <a:r>
              <a:rPr sz="2050" b="1" cap="small" spc="65" dirty="0">
                <a:latin typeface="Times New Roman"/>
                <a:cs typeface="Times New Roman"/>
              </a:rPr>
              <a:t>Science</a:t>
            </a:r>
            <a:r>
              <a:rPr sz="2050" b="1" cap="small" spc="320" dirty="0">
                <a:latin typeface="Times New Roman"/>
                <a:cs typeface="Times New Roman"/>
              </a:rPr>
              <a:t> </a:t>
            </a:r>
            <a:r>
              <a:rPr sz="2050" b="1" cap="small" spc="-25" dirty="0">
                <a:latin typeface="Times New Roman"/>
                <a:cs typeface="Times New Roman"/>
              </a:rPr>
              <a:t>and</a:t>
            </a:r>
            <a:endParaRPr sz="2050" b="1" dirty="0">
              <a:latin typeface="Times New Roman"/>
              <a:cs typeface="Times New Roman"/>
            </a:endParaRPr>
          </a:p>
          <a:p>
            <a:pPr marR="2540" algn="ctr">
              <a:lnSpc>
                <a:spcPts val="1970"/>
              </a:lnSpc>
            </a:pPr>
            <a:r>
              <a:rPr sz="2050" b="1" cap="small" spc="45" dirty="0">
                <a:latin typeface="Times New Roman"/>
                <a:cs typeface="Times New Roman"/>
              </a:rPr>
              <a:t>Technology</a:t>
            </a:r>
            <a:endParaRPr sz="2050" b="1" dirty="0">
              <a:latin typeface="Times New Roman"/>
              <a:cs typeface="Times New Roman"/>
            </a:endParaRPr>
          </a:p>
          <a:p>
            <a:pPr marR="3175" algn="ctr">
              <a:lnSpc>
                <a:spcPts val="1530"/>
              </a:lnSpc>
            </a:pPr>
            <a:r>
              <a:rPr sz="1400" b="1" cap="small" spc="60" dirty="0">
                <a:latin typeface="Times New Roman"/>
                <a:cs typeface="Times New Roman"/>
              </a:rPr>
              <a:t>Department</a:t>
            </a:r>
            <a:r>
              <a:rPr sz="1400" b="1" cap="small" spc="210" dirty="0">
                <a:latin typeface="Times New Roman"/>
                <a:cs typeface="Times New Roman"/>
              </a:rPr>
              <a:t> </a:t>
            </a:r>
            <a:r>
              <a:rPr sz="1400" b="1" cap="small" dirty="0">
                <a:latin typeface="Times New Roman"/>
                <a:cs typeface="Times New Roman"/>
              </a:rPr>
              <a:t>of</a:t>
            </a:r>
            <a:r>
              <a:rPr sz="1400" b="1" cap="small" spc="180" dirty="0">
                <a:latin typeface="Times New Roman"/>
                <a:cs typeface="Times New Roman"/>
              </a:rPr>
              <a:t> </a:t>
            </a:r>
            <a:r>
              <a:rPr sz="1400" b="1" cap="small" spc="45" dirty="0">
                <a:latin typeface="Times New Roman"/>
                <a:cs typeface="Times New Roman"/>
              </a:rPr>
              <a:t>Statistics</a:t>
            </a:r>
            <a:endParaRPr sz="1400" b="1" dirty="0">
              <a:latin typeface="Times New Roman"/>
              <a:cs typeface="Times New Roman"/>
            </a:endParaRPr>
          </a:p>
        </p:txBody>
      </p:sp>
      <p:pic>
        <p:nvPicPr>
          <p:cNvPr id="30" name="object 7">
            <a:extLst>
              <a:ext uri="{FF2B5EF4-FFF2-40B4-BE49-F238E27FC236}">
                <a16:creationId xmlns:a16="http://schemas.microsoft.com/office/drawing/2014/main" id="{19B549A0-AE9C-6BAE-8718-64EFFA5A992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56" y="92835"/>
            <a:ext cx="775324" cy="683358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1" name="object 3">
            <a:extLst>
              <a:ext uri="{FF2B5EF4-FFF2-40B4-BE49-F238E27FC236}">
                <a16:creationId xmlns:a16="http://schemas.microsoft.com/office/drawing/2014/main" id="{1EB52DAC-D714-8160-B222-486D8306A99D}"/>
              </a:ext>
            </a:extLst>
          </p:cNvPr>
          <p:cNvSpPr txBox="1"/>
          <p:nvPr/>
        </p:nvSpPr>
        <p:spPr>
          <a:xfrm>
            <a:off x="53663" y="779363"/>
            <a:ext cx="7449174" cy="3987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dirty="0">
                <a:latin typeface="Times New Roman"/>
                <a:cs typeface="Times New Roman"/>
              </a:rPr>
              <a:t>League</a:t>
            </a:r>
            <a:r>
              <a:rPr sz="2450" b="1" spc="-2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Pro</a:t>
            </a:r>
            <a:r>
              <a:rPr sz="2450" b="1" spc="-2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Database</a:t>
            </a:r>
            <a:r>
              <a:rPr sz="2450" b="1" spc="-15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Management</a:t>
            </a:r>
            <a:r>
              <a:rPr sz="2450" b="1" spc="-15" dirty="0">
                <a:latin typeface="Times New Roman"/>
                <a:cs typeface="Times New Roman"/>
              </a:rPr>
              <a:t> </a:t>
            </a:r>
            <a:r>
              <a:rPr sz="2450" b="1" spc="-10" dirty="0">
                <a:latin typeface="Times New Roman"/>
                <a:cs typeface="Times New Roman"/>
              </a:rPr>
              <a:t>System</a:t>
            </a:r>
            <a:endParaRPr sz="2450" dirty="0">
              <a:latin typeface="Times New Roman"/>
              <a:cs typeface="Times New Roman"/>
            </a:endParaRPr>
          </a:p>
        </p:txBody>
      </p:sp>
      <p:sp>
        <p:nvSpPr>
          <p:cNvPr id="32" name="object 9">
            <a:extLst>
              <a:ext uri="{FF2B5EF4-FFF2-40B4-BE49-F238E27FC236}">
                <a16:creationId xmlns:a16="http://schemas.microsoft.com/office/drawing/2014/main" id="{AC9F6327-3AC3-165B-4219-2380D5F27A93}"/>
              </a:ext>
            </a:extLst>
          </p:cNvPr>
          <p:cNvSpPr/>
          <p:nvPr/>
        </p:nvSpPr>
        <p:spPr>
          <a:xfrm>
            <a:off x="107326" y="1642896"/>
            <a:ext cx="7315200" cy="132403"/>
          </a:xfrm>
          <a:custGeom>
            <a:avLst/>
            <a:gdLst/>
            <a:ahLst/>
            <a:cxnLst/>
            <a:rect l="l" t="t" r="r" b="b"/>
            <a:pathLst>
              <a:path w="5731509">
                <a:moveTo>
                  <a:pt x="0" y="0"/>
                </a:moveTo>
                <a:lnTo>
                  <a:pt x="5731256" y="0"/>
                </a:lnTo>
              </a:path>
            </a:pathLst>
          </a:custGeom>
          <a:ln w="126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object 10">
            <a:extLst>
              <a:ext uri="{FF2B5EF4-FFF2-40B4-BE49-F238E27FC236}">
                <a16:creationId xmlns:a16="http://schemas.microsoft.com/office/drawing/2014/main" id="{E086E06E-5145-95C8-D9DE-7DDB0011297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60526" y="145564"/>
            <a:ext cx="762000" cy="606127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7" name="object 9">
            <a:extLst>
              <a:ext uri="{FF2B5EF4-FFF2-40B4-BE49-F238E27FC236}">
                <a16:creationId xmlns:a16="http://schemas.microsoft.com/office/drawing/2014/main" id="{7565C53B-4954-D3DE-73EB-76A5839872E4}"/>
              </a:ext>
            </a:extLst>
          </p:cNvPr>
          <p:cNvSpPr/>
          <p:nvPr/>
        </p:nvSpPr>
        <p:spPr>
          <a:xfrm flipV="1">
            <a:off x="87156" y="1622899"/>
            <a:ext cx="7315200" cy="132402"/>
          </a:xfrm>
          <a:custGeom>
            <a:avLst/>
            <a:gdLst/>
            <a:ahLst/>
            <a:cxnLst/>
            <a:rect l="l" t="t" r="r" b="b"/>
            <a:pathLst>
              <a:path w="5731509">
                <a:moveTo>
                  <a:pt x="0" y="0"/>
                </a:moveTo>
                <a:lnTo>
                  <a:pt x="5731256" y="0"/>
                </a:lnTo>
              </a:path>
            </a:pathLst>
          </a:custGeom>
          <a:ln w="126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5">
            <a:extLst>
              <a:ext uri="{FF2B5EF4-FFF2-40B4-BE49-F238E27FC236}">
                <a16:creationId xmlns:a16="http://schemas.microsoft.com/office/drawing/2014/main" id="{B227052B-1DBD-AA2F-8E7D-7572BCAE7235}"/>
              </a:ext>
            </a:extLst>
          </p:cNvPr>
          <p:cNvSpPr txBox="1"/>
          <p:nvPr/>
        </p:nvSpPr>
        <p:spPr>
          <a:xfrm>
            <a:off x="1416050" y="1934454"/>
            <a:ext cx="3429000" cy="9789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0" tIns="11430" rIns="0" bIns="0" rtlCol="0">
            <a:spAutoFit/>
          </a:bodyPr>
          <a:lstStyle/>
          <a:p>
            <a:pPr marL="12700" marR="5080" indent="24130">
              <a:lnSpc>
                <a:spcPct val="100600"/>
              </a:lnSpc>
              <a:spcBef>
                <a:spcPts val="90"/>
              </a:spcBef>
            </a:pPr>
            <a:r>
              <a:rPr sz="1200" b="1" dirty="0">
                <a:latin typeface="Times New Roman"/>
                <a:cs typeface="Times New Roman"/>
              </a:rPr>
              <a:t>MD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Salek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Miah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(2021134066) </a:t>
            </a:r>
            <a:endParaRPr lang="en-US" sz="1200" b="1" spc="-10" dirty="0">
              <a:latin typeface="Times New Roman"/>
              <a:cs typeface="Times New Roman"/>
            </a:endParaRPr>
          </a:p>
          <a:p>
            <a:pPr marL="12700" marR="5080" indent="24130">
              <a:lnSpc>
                <a:spcPct val="100600"/>
              </a:lnSpc>
              <a:spcBef>
                <a:spcPts val="90"/>
              </a:spcBef>
            </a:pPr>
            <a:r>
              <a:rPr sz="1200" b="1" dirty="0">
                <a:latin typeface="Times New Roman"/>
                <a:cs typeface="Times New Roman"/>
              </a:rPr>
              <a:t>Sourav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Ahmed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(2021134068) </a:t>
            </a:r>
            <a:endParaRPr lang="en-US" sz="1200" b="1" spc="-10" dirty="0">
              <a:latin typeface="Times New Roman"/>
              <a:cs typeface="Times New Roman"/>
            </a:endParaRPr>
          </a:p>
          <a:p>
            <a:pPr marL="12700" marR="5080" indent="24130">
              <a:lnSpc>
                <a:spcPct val="100600"/>
              </a:lnSpc>
              <a:spcBef>
                <a:spcPts val="90"/>
              </a:spcBef>
            </a:pPr>
            <a:r>
              <a:rPr sz="1200" b="1" spc="-10" dirty="0">
                <a:latin typeface="Times New Roman"/>
                <a:cs typeface="Times New Roman"/>
              </a:rPr>
              <a:t>Database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Management</a:t>
            </a:r>
            <a:r>
              <a:rPr sz="1200" b="1" spc="1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System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Lab </a:t>
            </a:r>
            <a:r>
              <a:rPr sz="1200" b="1" dirty="0">
                <a:latin typeface="Times New Roman"/>
                <a:cs typeface="Times New Roman"/>
              </a:rPr>
              <a:t>Fall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2025</a:t>
            </a:r>
            <a:endParaRPr sz="12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Ishtiaque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Zahid</a:t>
            </a:r>
            <a:endParaRPr sz="12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Times New Roman"/>
                <a:cs typeface="Times New Roman"/>
              </a:rPr>
              <a:t>March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28,</a:t>
            </a:r>
            <a:r>
              <a:rPr sz="1200" b="1" spc="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2025</a:t>
            </a:r>
            <a:endParaRPr sz="1200" b="1" dirty="0">
              <a:latin typeface="Times New Roman"/>
              <a:cs typeface="Times New Roman"/>
            </a:endParaRPr>
          </a:p>
        </p:txBody>
      </p:sp>
      <p:sp>
        <p:nvSpPr>
          <p:cNvPr id="45" name="object 6">
            <a:extLst>
              <a:ext uri="{FF2B5EF4-FFF2-40B4-BE49-F238E27FC236}">
                <a16:creationId xmlns:a16="http://schemas.microsoft.com/office/drawing/2014/main" id="{07E1B1DB-AC84-C087-DF5D-24F908167ADA}"/>
              </a:ext>
            </a:extLst>
          </p:cNvPr>
          <p:cNvSpPr txBox="1"/>
          <p:nvPr/>
        </p:nvSpPr>
        <p:spPr>
          <a:xfrm>
            <a:off x="87157" y="2303389"/>
            <a:ext cx="1302062" cy="56246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65"/>
              </a:spcBef>
            </a:pPr>
            <a:r>
              <a:rPr sz="1200" b="1" spc="-10" dirty="0">
                <a:latin typeface="Times New Roman"/>
                <a:cs typeface="Times New Roman"/>
              </a:rPr>
              <a:t>Course: Semester: </a:t>
            </a:r>
            <a:r>
              <a:rPr sz="1200" b="1" dirty="0">
                <a:latin typeface="Times New Roman"/>
                <a:cs typeface="Times New Roman"/>
              </a:rPr>
              <a:t>Submitted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To: </a:t>
            </a:r>
            <a:r>
              <a:rPr sz="1200" b="1" dirty="0">
                <a:latin typeface="Times New Roman"/>
                <a:cs typeface="Times New Roman"/>
              </a:rPr>
              <a:t>Submission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Date: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46" name="object 4">
            <a:extLst>
              <a:ext uri="{FF2B5EF4-FFF2-40B4-BE49-F238E27FC236}">
                <a16:creationId xmlns:a16="http://schemas.microsoft.com/office/drawing/2014/main" id="{9967AB2A-DDB8-C7A4-2454-B8988EC06029}"/>
              </a:ext>
            </a:extLst>
          </p:cNvPr>
          <p:cNvSpPr txBox="1"/>
          <p:nvPr/>
        </p:nvSpPr>
        <p:spPr>
          <a:xfrm>
            <a:off x="120650" y="1987145"/>
            <a:ext cx="1268568" cy="19749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Submitted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By: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58903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368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2743580"/>
            <a:ext cx="5767705" cy="2894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225425" marR="7620" indent="-225425" algn="r">
              <a:lnSpc>
                <a:spcPts val="1430"/>
              </a:lnSpc>
              <a:spcBef>
                <a:spcPts val="100"/>
              </a:spcBef>
              <a:buAutoNum type="arabicPlain"/>
              <a:tabLst>
                <a:tab pos="225425" algn="l"/>
                <a:tab pos="5662295" algn="l"/>
              </a:tabLst>
            </a:pPr>
            <a:r>
              <a:rPr sz="1200" b="1" spc="-10" dirty="0">
                <a:latin typeface="Times New Roman"/>
                <a:cs typeface="Times New Roman"/>
                <a:hlinkClick r:id="rId2" action="ppaction://hlinksldjump"/>
              </a:rPr>
              <a:t>Introduction</a:t>
            </a:r>
            <a:r>
              <a:rPr sz="1200" b="1" dirty="0">
                <a:latin typeface="Times New Roman"/>
                <a:cs typeface="Times New Roman"/>
              </a:rPr>
              <a:t>	</a:t>
            </a:r>
            <a:r>
              <a:rPr sz="1200" b="1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349885" marR="7620" lvl="1" indent="-349885" algn="r">
              <a:lnSpc>
                <a:spcPts val="1430"/>
              </a:lnSpc>
              <a:buAutoNum type="arabicPeriod"/>
              <a:tabLst>
                <a:tab pos="349885" algn="l"/>
              </a:tabLst>
            </a:pPr>
            <a:r>
              <a:rPr sz="1200" dirty="0">
                <a:latin typeface="Times New Roman"/>
                <a:cs typeface="Times New Roman"/>
                <a:hlinkClick r:id="rId2" action="ppaction://hlinksldjump"/>
              </a:rPr>
              <a:t>Project</a:t>
            </a:r>
            <a:r>
              <a:rPr sz="1200" spc="350" dirty="0">
                <a:latin typeface="Times New Roman"/>
                <a:cs typeface="Times New Roman"/>
                <a:hlinkClick r:id="rId2" action="ppaction://hlinksldjump"/>
              </a:rPr>
              <a:t> </a:t>
            </a:r>
            <a:r>
              <a:rPr sz="1200" spc="-25" dirty="0">
                <a:latin typeface="Times New Roman"/>
                <a:cs typeface="Times New Roman"/>
                <a:hlinkClick r:id="rId2" action="ppaction://hlinksldjump"/>
              </a:rPr>
              <a:t>Overview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....................................................................................................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349885" marR="7620" lvl="1" indent="-349885" algn="r">
              <a:lnSpc>
                <a:spcPct val="100000"/>
              </a:lnSpc>
              <a:buAutoNum type="arabicPeriod"/>
              <a:tabLst>
                <a:tab pos="349885" algn="l"/>
              </a:tabLst>
            </a:pPr>
            <a:r>
              <a:rPr sz="1200" dirty="0">
                <a:latin typeface="Times New Roman"/>
                <a:cs typeface="Times New Roman"/>
                <a:hlinkClick r:id="rId2" action="ppaction://hlinksldjump"/>
              </a:rPr>
              <a:t>Objectives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...............................................................................................................</a:t>
            </a:r>
            <a:r>
              <a:rPr sz="1200" spc="375" dirty="0">
                <a:latin typeface="Times New Roman"/>
                <a:cs typeface="Times New Roman"/>
              </a:rPr>
              <a:t>  </a:t>
            </a: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225425" marR="7620" indent="-225425" algn="r">
              <a:lnSpc>
                <a:spcPts val="1430"/>
              </a:lnSpc>
              <a:spcBef>
                <a:spcPts val="1220"/>
              </a:spcBef>
              <a:buAutoNum type="arabicPlain"/>
              <a:tabLst>
                <a:tab pos="225425" algn="l"/>
                <a:tab pos="5662295" algn="l"/>
              </a:tabLst>
            </a:pPr>
            <a:r>
              <a:rPr sz="1200" b="1" dirty="0">
                <a:latin typeface="Times New Roman"/>
                <a:cs typeface="Times New Roman"/>
                <a:hlinkClick r:id="rId3" action="ppaction://hlinksldjump"/>
              </a:rPr>
              <a:t>Database</a:t>
            </a:r>
            <a:r>
              <a:rPr sz="1200" b="1" spc="-65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200" b="1" spc="-10" dirty="0">
                <a:latin typeface="Times New Roman"/>
                <a:cs typeface="Times New Roman"/>
                <a:hlinkClick r:id="rId3" action="ppaction://hlinksldjump"/>
              </a:rPr>
              <a:t>Design</a:t>
            </a:r>
            <a:r>
              <a:rPr sz="1200" b="1" dirty="0">
                <a:latin typeface="Times New Roman"/>
                <a:cs typeface="Times New Roman"/>
              </a:rPr>
              <a:t>	</a:t>
            </a:r>
            <a:r>
              <a:rPr sz="1200" b="1" spc="-5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 marL="349885" marR="7620" lvl="1" indent="-349885" algn="r">
              <a:lnSpc>
                <a:spcPts val="1430"/>
              </a:lnSpc>
              <a:buAutoNum type="arabicPeriod"/>
              <a:tabLst>
                <a:tab pos="349885" algn="l"/>
              </a:tabLst>
            </a:pPr>
            <a:r>
              <a:rPr sz="1200" spc="-25" dirty="0">
                <a:latin typeface="Times New Roman"/>
                <a:cs typeface="Times New Roman"/>
                <a:hlinkClick r:id="rId3" action="ppaction://hlinksldjump"/>
              </a:rPr>
              <a:t>Entity-</a:t>
            </a:r>
            <a:r>
              <a:rPr sz="1200" spc="-10" dirty="0">
                <a:latin typeface="Times New Roman"/>
                <a:cs typeface="Times New Roman"/>
                <a:hlinkClick r:id="rId3" action="ppaction://hlinksldjump"/>
              </a:rPr>
              <a:t>Relationship</a:t>
            </a:r>
            <a:r>
              <a:rPr sz="1200" spc="140" dirty="0">
                <a:latin typeface="Times New Roman"/>
                <a:cs typeface="Times New Roman"/>
                <a:hlinkClick r:id="rId3" action="ppaction://hlinksldjump"/>
              </a:rPr>
              <a:t>  </a:t>
            </a:r>
            <a:r>
              <a:rPr sz="1200" dirty="0">
                <a:latin typeface="Times New Roman"/>
                <a:cs typeface="Times New Roman"/>
                <a:hlinkClick r:id="rId3" action="ppaction://hlinksldjump"/>
              </a:rPr>
              <a:t>Diagram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...................................................................................</a:t>
            </a:r>
            <a:r>
              <a:rPr sz="1200" spc="35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 marL="349885" marR="5080" lvl="1" indent="-349885" algn="r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349885" algn="l"/>
              </a:tabLst>
            </a:pPr>
            <a:r>
              <a:rPr sz="1200" spc="-10" dirty="0">
                <a:latin typeface="Times New Roman"/>
                <a:cs typeface="Times New Roman"/>
                <a:hlinkClick r:id="rId4" action="ppaction://hlinksldjump"/>
              </a:rPr>
              <a:t>Relational</a:t>
            </a:r>
            <a:r>
              <a:rPr sz="1200" spc="42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200" spc="-20" dirty="0">
                <a:latin typeface="Times New Roman"/>
                <a:cs typeface="Times New Roman"/>
                <a:hlinkClick r:id="rId4" action="ppaction://hlinksldjump"/>
              </a:rPr>
              <a:t>Schema</a:t>
            </a:r>
            <a:r>
              <a:rPr sz="1200" spc="13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...................................................................................................3</a:t>
            </a:r>
            <a:endParaRPr sz="1200">
              <a:latin typeface="Times New Roman"/>
              <a:cs typeface="Times New Roman"/>
            </a:endParaRPr>
          </a:p>
          <a:p>
            <a:pPr marL="349885" marR="7620" lvl="1" indent="-349885" algn="r">
              <a:lnSpc>
                <a:spcPct val="100000"/>
              </a:lnSpc>
              <a:buAutoNum type="arabicPeriod"/>
              <a:tabLst>
                <a:tab pos="349885" algn="l"/>
              </a:tabLst>
            </a:pPr>
            <a:r>
              <a:rPr sz="1200" spc="-10" dirty="0">
                <a:latin typeface="Times New Roman"/>
                <a:cs typeface="Times New Roman"/>
                <a:hlinkClick r:id="rId4" action="ppaction://hlinksldjump"/>
              </a:rPr>
              <a:t>Normalization</a:t>
            </a:r>
            <a:r>
              <a:rPr sz="1200" spc="200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200" spc="-10" dirty="0">
                <a:latin typeface="Times New Roman"/>
                <a:cs typeface="Times New Roman"/>
                <a:hlinkClick r:id="rId4" action="ppaction://hlinksldjump"/>
              </a:rPr>
              <a:t>Process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............................................................................................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marL="225425" marR="7620" indent="-225425" algn="r">
              <a:lnSpc>
                <a:spcPts val="1430"/>
              </a:lnSpc>
              <a:spcBef>
                <a:spcPts val="1225"/>
              </a:spcBef>
              <a:buAutoNum type="arabicPlain"/>
              <a:tabLst>
                <a:tab pos="225425" algn="l"/>
                <a:tab pos="5662295" algn="l"/>
              </a:tabLst>
            </a:pPr>
            <a:r>
              <a:rPr sz="1200" b="1" spc="-10" dirty="0">
                <a:latin typeface="Times New Roman"/>
                <a:cs typeface="Times New Roman"/>
                <a:hlinkClick r:id="rId5" action="ppaction://hlinksldjump"/>
              </a:rPr>
              <a:t>Implementation</a:t>
            </a:r>
            <a:r>
              <a:rPr sz="1200" b="1" dirty="0">
                <a:latin typeface="Times New Roman"/>
                <a:cs typeface="Times New Roman"/>
              </a:rPr>
              <a:t>	</a:t>
            </a:r>
            <a:r>
              <a:rPr sz="1200" b="1" spc="-5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marL="349885" marR="5080" lvl="1" indent="-349885" algn="r">
              <a:lnSpc>
                <a:spcPts val="1430"/>
              </a:lnSpc>
              <a:buAutoNum type="arabicPeriod"/>
              <a:tabLst>
                <a:tab pos="349885" algn="l"/>
              </a:tabLst>
            </a:pPr>
            <a:r>
              <a:rPr sz="1200" dirty="0">
                <a:latin typeface="Times New Roman"/>
                <a:cs typeface="Times New Roman"/>
                <a:hlinkClick r:id="rId5" action="ppaction://hlinksldjump"/>
              </a:rPr>
              <a:t>SQL</a:t>
            </a:r>
            <a:r>
              <a:rPr sz="1200" spc="229" dirty="0">
                <a:latin typeface="Times New Roman"/>
                <a:cs typeface="Times New Roman"/>
                <a:hlinkClick r:id="rId5" action="ppaction://hlinksldjump"/>
              </a:rPr>
              <a:t>  </a:t>
            </a:r>
            <a:r>
              <a:rPr sz="1200" spc="-25" dirty="0">
                <a:latin typeface="Times New Roman"/>
                <a:cs typeface="Times New Roman"/>
                <a:hlinkClick r:id="rId5" action="ppaction://hlinksldjump"/>
              </a:rPr>
              <a:t>Queries</a:t>
            </a:r>
            <a:r>
              <a:rPr sz="1200" spc="3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............................................................................................................4</a:t>
            </a:r>
            <a:endParaRPr sz="1200">
              <a:latin typeface="Times New Roman"/>
              <a:cs typeface="Times New Roman"/>
            </a:endParaRPr>
          </a:p>
          <a:p>
            <a:pPr marL="1073785" lvl="2" indent="-48514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073785" algn="l"/>
              </a:tabLst>
            </a:pPr>
            <a:r>
              <a:rPr sz="1200" spc="-10" dirty="0">
                <a:latin typeface="Times New Roman"/>
                <a:cs typeface="Times New Roman"/>
                <a:hlinkClick r:id="rId5" action="ppaction://hlinksldjump"/>
              </a:rPr>
              <a:t>Player</a:t>
            </a:r>
            <a:r>
              <a:rPr sz="1200" spc="130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200" spc="-10" dirty="0">
                <a:latin typeface="Times New Roman"/>
                <a:cs typeface="Times New Roman"/>
                <a:hlinkClick r:id="rId5" action="ppaction://hlinksldjump"/>
              </a:rPr>
              <a:t>Performance</a:t>
            </a:r>
            <a:r>
              <a:rPr sz="1200" spc="120" dirty="0">
                <a:latin typeface="Times New Roman"/>
                <a:cs typeface="Times New Roman"/>
                <a:hlinkClick r:id="rId5" action="ppaction://hlinksldjump"/>
              </a:rPr>
              <a:t> </a:t>
            </a:r>
            <a:r>
              <a:rPr sz="1200" spc="-10" dirty="0">
                <a:latin typeface="Times New Roman"/>
                <a:cs typeface="Times New Roman"/>
                <a:hlinkClick r:id="rId5" action="ppaction://hlinksldjump"/>
              </a:rPr>
              <a:t>Analysis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......................................................................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marL="1073785" lvl="2" indent="-485140">
              <a:lnSpc>
                <a:spcPct val="100000"/>
              </a:lnSpc>
              <a:buAutoNum type="arabicPeriod"/>
              <a:tabLst>
                <a:tab pos="1073785" algn="l"/>
              </a:tabLst>
            </a:pPr>
            <a:r>
              <a:rPr sz="1200" spc="-25" dirty="0">
                <a:latin typeface="Times New Roman"/>
                <a:cs typeface="Times New Roman"/>
              </a:rPr>
              <a:t>Team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Statistics............................................................................................</a:t>
            </a:r>
            <a:r>
              <a:rPr sz="1200" spc="125" dirty="0">
                <a:latin typeface="Times New Roman"/>
                <a:cs typeface="Times New Roman"/>
              </a:rPr>
              <a:t>  </a:t>
            </a:r>
            <a:r>
              <a:rPr sz="1200" spc="-5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marL="1073785" lvl="2" indent="-48514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1073785" algn="l"/>
              </a:tabLst>
            </a:pPr>
            <a:r>
              <a:rPr sz="1200" spc="-10" dirty="0">
                <a:latin typeface="Times New Roman"/>
                <a:cs typeface="Times New Roman"/>
              </a:rPr>
              <a:t>Referee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Workload.......................................................................................</a:t>
            </a:r>
            <a:r>
              <a:rPr sz="1200" spc="434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 marL="1073785" lvl="2" indent="-485140">
              <a:lnSpc>
                <a:spcPct val="100000"/>
              </a:lnSpc>
              <a:buAutoNum type="arabicPeriod"/>
              <a:tabLst>
                <a:tab pos="1073785" algn="l"/>
              </a:tabLst>
            </a:pPr>
            <a:r>
              <a:rPr sz="1200" spc="-10" dirty="0">
                <a:latin typeface="Times New Roman"/>
                <a:cs typeface="Times New Roman"/>
              </a:rPr>
              <a:t>Department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Budget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Analysis.......................................................................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  <a:p>
            <a:pPr marL="1073785" lvl="2" indent="-485140">
              <a:lnSpc>
                <a:spcPct val="100000"/>
              </a:lnSpc>
              <a:buAutoNum type="arabicPeriod"/>
              <a:tabLst>
                <a:tab pos="1073785" algn="l"/>
              </a:tabLst>
            </a:pPr>
            <a:r>
              <a:rPr sz="1200" dirty="0">
                <a:latin typeface="Times New Roman"/>
                <a:cs typeface="Times New Roman"/>
              </a:rPr>
              <a:t>Player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</a:t>
            </a:r>
            <a:r>
              <a:rPr sz="1200" spc="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Distribution...............................................................................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7861" y="5612383"/>
            <a:ext cx="210820" cy="20827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imes New Roman"/>
                <a:cs typeface="Times New Roman"/>
              </a:rPr>
              <a:t>3.2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8407" y="5612383"/>
            <a:ext cx="5191125" cy="20827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  <a:hlinkClick r:id="rId5" action="ppaction://hlinksldjump"/>
              </a:rPr>
              <a:t>Implementation</a:t>
            </a:r>
            <a:r>
              <a:rPr sz="1200" spc="130" dirty="0">
                <a:latin typeface="Times New Roman"/>
                <a:cs typeface="Times New Roman"/>
                <a:hlinkClick r:id="rId5" action="ppaction://hlinksldjump"/>
              </a:rPr>
              <a:t>  </a:t>
            </a:r>
            <a:r>
              <a:rPr sz="1200" spc="-25" dirty="0">
                <a:latin typeface="Times New Roman"/>
                <a:cs typeface="Times New Roman"/>
                <a:hlinkClick r:id="rId5" action="ppaction://hlinksldjump"/>
              </a:rPr>
              <a:t>Challenges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......................................................................................5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8407" y="5795517"/>
            <a:ext cx="5187950" cy="76009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497205" lvl="2" indent="-48450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97205" algn="l"/>
              </a:tabLst>
            </a:pPr>
            <a:r>
              <a:rPr sz="1200" spc="-10" dirty="0">
                <a:latin typeface="Times New Roman"/>
                <a:cs typeface="Times New Roman"/>
                <a:hlinkClick r:id="rId6" action="ppaction://hlinksldjump"/>
              </a:rPr>
              <a:t>Challenge</a:t>
            </a:r>
            <a:r>
              <a:rPr sz="1200" spc="45" dirty="0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sz="1200" dirty="0">
                <a:latin typeface="Times New Roman"/>
                <a:cs typeface="Times New Roman"/>
                <a:hlinkClick r:id="rId6" action="ppaction://hlinksldjump"/>
              </a:rPr>
              <a:t>1:</a:t>
            </a:r>
            <a:r>
              <a:rPr sz="1200" spc="140" dirty="0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sz="1200" spc="-20" dirty="0">
                <a:latin typeface="Times New Roman"/>
                <a:cs typeface="Times New Roman"/>
                <a:hlinkClick r:id="rId6" action="ppaction://hlinksldjump"/>
              </a:rPr>
              <a:t>Complex</a:t>
            </a:r>
            <a:r>
              <a:rPr sz="1200" spc="15" dirty="0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sz="1200" spc="-10" dirty="0">
                <a:latin typeface="Times New Roman"/>
                <a:cs typeface="Times New Roman"/>
                <a:hlinkClick r:id="rId6" action="ppaction://hlinksldjump"/>
              </a:rPr>
              <a:t>Relationship</a:t>
            </a:r>
            <a:r>
              <a:rPr sz="1200" spc="60" dirty="0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sz="1200" spc="-20" dirty="0">
                <a:latin typeface="Times New Roman"/>
                <a:cs typeface="Times New Roman"/>
                <a:hlinkClick r:id="rId6" action="ppaction://hlinksldjump"/>
              </a:rPr>
              <a:t>Management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.......................................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 dirty="0">
              <a:latin typeface="Times New Roman"/>
              <a:cs typeface="Times New Roman"/>
            </a:endParaRPr>
          </a:p>
          <a:p>
            <a:pPr marL="497205" lvl="2" indent="-484505">
              <a:lnSpc>
                <a:spcPct val="100000"/>
              </a:lnSpc>
              <a:buAutoNum type="arabicPeriod"/>
              <a:tabLst>
                <a:tab pos="497205" algn="l"/>
              </a:tabLst>
            </a:pPr>
            <a:r>
              <a:rPr sz="1200" dirty="0">
                <a:latin typeface="Times New Roman"/>
                <a:cs typeface="Times New Roman"/>
                <a:hlinkClick r:id="rId6" action="ppaction://hlinksldjump"/>
              </a:rPr>
              <a:t>Solution: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.....................................................................................................</a:t>
            </a:r>
            <a:r>
              <a:rPr sz="1200" spc="335" dirty="0">
                <a:latin typeface="Times New Roman"/>
                <a:cs typeface="Times New Roman"/>
              </a:rPr>
              <a:t>  </a:t>
            </a: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 dirty="0">
              <a:latin typeface="Times New Roman"/>
              <a:cs typeface="Times New Roman"/>
            </a:endParaRPr>
          </a:p>
          <a:p>
            <a:pPr marL="497205" lvl="2" indent="-48450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497205" algn="l"/>
              </a:tabLst>
            </a:pPr>
            <a:r>
              <a:rPr sz="1200" spc="-10" dirty="0">
                <a:latin typeface="Times New Roman"/>
                <a:cs typeface="Times New Roman"/>
                <a:hlinkClick r:id="rId6" action="ppaction://hlinksldjump"/>
              </a:rPr>
              <a:t>Challenge</a:t>
            </a:r>
            <a:r>
              <a:rPr sz="1200" spc="65" dirty="0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sz="1200" dirty="0">
                <a:latin typeface="Times New Roman"/>
                <a:cs typeface="Times New Roman"/>
                <a:hlinkClick r:id="rId6" action="ppaction://hlinksldjump"/>
              </a:rPr>
              <a:t>2:</a:t>
            </a:r>
            <a:r>
              <a:rPr sz="1200" spc="175" dirty="0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sz="1200" spc="-10" dirty="0">
                <a:latin typeface="Times New Roman"/>
                <a:cs typeface="Times New Roman"/>
                <a:hlinkClick r:id="rId6" action="ppaction://hlinksldjump"/>
              </a:rPr>
              <a:t>Performance</a:t>
            </a:r>
            <a:r>
              <a:rPr sz="1200" spc="75" dirty="0">
                <a:latin typeface="Times New Roman"/>
                <a:cs typeface="Times New Roman"/>
                <a:hlinkClick r:id="rId6" action="ppaction://hlinksldjump"/>
              </a:rPr>
              <a:t> </a:t>
            </a:r>
            <a:r>
              <a:rPr sz="1200" dirty="0">
                <a:latin typeface="Times New Roman"/>
                <a:cs typeface="Times New Roman"/>
                <a:hlinkClick r:id="rId6" action="ppaction://hlinksldjump"/>
              </a:rPr>
              <a:t>Optimization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 dirty="0">
              <a:latin typeface="Times New Roman"/>
              <a:cs typeface="Times New Roman"/>
            </a:endParaRPr>
          </a:p>
          <a:p>
            <a:pPr marL="497205" lvl="2" indent="-484505">
              <a:lnSpc>
                <a:spcPct val="100000"/>
              </a:lnSpc>
              <a:buAutoNum type="arabicPeriod"/>
              <a:tabLst>
                <a:tab pos="497205" algn="l"/>
              </a:tabLst>
            </a:pPr>
            <a:r>
              <a:rPr sz="1200" dirty="0">
                <a:latin typeface="Times New Roman"/>
                <a:cs typeface="Times New Roman"/>
                <a:hlinkClick r:id="rId6" action="ppaction://hlinksldjump"/>
              </a:rPr>
              <a:t>Solution:</a:t>
            </a:r>
            <a:r>
              <a:rPr sz="1200" dirty="0">
                <a:latin typeface="Times New Roman"/>
                <a:cs typeface="Times New Roman"/>
              </a:rPr>
              <a:t>.....................................................................................................</a:t>
            </a:r>
            <a:r>
              <a:rPr sz="1200" spc="335" dirty="0">
                <a:latin typeface="Times New Roman"/>
                <a:cs typeface="Times New Roman"/>
              </a:rPr>
              <a:t>  </a:t>
            </a: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6685533"/>
            <a:ext cx="2611120" cy="54419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8125" algn="l"/>
              </a:tabLst>
            </a:pPr>
            <a:r>
              <a:rPr sz="1200" b="1" spc="-50" dirty="0">
                <a:latin typeface="Times New Roman"/>
                <a:cs typeface="Times New Roman"/>
              </a:rPr>
              <a:t>4</a:t>
            </a:r>
            <a:r>
              <a:rPr sz="1200" b="1" dirty="0">
                <a:latin typeface="Times New Roman"/>
                <a:cs typeface="Times New Roman"/>
              </a:rPr>
              <a:t>	</a:t>
            </a:r>
            <a:r>
              <a:rPr sz="1200" b="1" spc="-10" dirty="0">
                <a:latin typeface="Times New Roman"/>
                <a:cs typeface="Times New Roman"/>
                <a:hlinkClick r:id="rId7" action="ppaction://hlinksldjump"/>
              </a:rPr>
              <a:t>Conclusion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200" b="1" dirty="0">
                <a:latin typeface="Times New Roman"/>
                <a:cs typeface="Times New Roman"/>
                <a:hlinkClick r:id="rId8" action="ppaction://hlinksldjump"/>
              </a:rPr>
              <a:t>A</a:t>
            </a:r>
            <a:r>
              <a:rPr sz="1200" b="1" spc="120" dirty="0">
                <a:latin typeface="Times New Roman"/>
                <a:cs typeface="Times New Roman"/>
                <a:hlinkClick r:id="rId8" action="ppaction://hlinksldjump"/>
              </a:rPr>
              <a:t>  </a:t>
            </a:r>
            <a:r>
              <a:rPr sz="1200" b="1" dirty="0">
                <a:latin typeface="Times New Roman"/>
                <a:cs typeface="Times New Roman"/>
                <a:hlinkClick r:id="rId8" action="ppaction://hlinksldjump"/>
              </a:rPr>
              <a:t>Appendix</a:t>
            </a:r>
            <a:r>
              <a:rPr sz="1200" b="1" spc="-30" dirty="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sz="1200" b="1" dirty="0">
                <a:latin typeface="Times New Roman"/>
                <a:cs typeface="Times New Roman"/>
                <a:hlinkClick r:id="rId8" action="ppaction://hlinksldjump"/>
              </a:rPr>
              <a:t>A:</a:t>
            </a:r>
            <a:r>
              <a:rPr sz="1200" b="1" spc="-35" dirty="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sz="1200" b="1" spc="-10" dirty="0">
                <a:latin typeface="Times New Roman"/>
                <a:cs typeface="Times New Roman"/>
                <a:hlinkClick r:id="rId8" action="ppaction://hlinksldjump"/>
              </a:rPr>
              <a:t>Complete</a:t>
            </a:r>
            <a:r>
              <a:rPr sz="1200" b="1" spc="-20" dirty="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sz="1200" b="1" dirty="0">
                <a:latin typeface="Times New Roman"/>
                <a:cs typeface="Times New Roman"/>
                <a:hlinkClick r:id="rId8" action="ppaction://hlinksldjump"/>
              </a:rPr>
              <a:t>SQL</a:t>
            </a:r>
            <a:r>
              <a:rPr sz="1200" b="1" spc="-20" dirty="0">
                <a:latin typeface="Times New Roman"/>
                <a:cs typeface="Times New Roman"/>
                <a:hlinkClick r:id="rId8" action="ppaction://hlinksldjump"/>
              </a:rPr>
              <a:t> </a:t>
            </a:r>
            <a:r>
              <a:rPr sz="1200" b="1" spc="-10" dirty="0">
                <a:latin typeface="Times New Roman"/>
                <a:cs typeface="Times New Roman"/>
                <a:hlinkClick r:id="rId8" action="ppaction://hlinksldjump"/>
              </a:rPr>
              <a:t>Schema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64630" y="6685533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64630" y="7021194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365630"/>
            <a:ext cx="5761990" cy="228107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3335" rIns="0" bIns="0" rtlCol="0">
            <a:spAutoFit/>
          </a:bodyPr>
          <a:lstStyle/>
          <a:p>
            <a:pPr marL="179705" algn="ctr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Times New Roman"/>
                <a:cs typeface="Times New Roman"/>
              </a:rPr>
              <a:t>Abstract</a:t>
            </a:r>
            <a:endParaRPr sz="16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600"/>
              </a:lnSpc>
              <a:spcBef>
                <a:spcPts val="128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League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Pro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Database</a:t>
            </a:r>
            <a:r>
              <a:rPr sz="1200" b="1" spc="11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Management</a:t>
            </a:r>
            <a:r>
              <a:rPr sz="1200" b="1" spc="1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System</a:t>
            </a:r>
            <a:r>
              <a:rPr sz="1200" b="1" spc="1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comprehensive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solution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manage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professional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sports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league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operations.</a:t>
            </a:r>
            <a:r>
              <a:rPr sz="1200" spc="225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3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efficiently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handles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player </a:t>
            </a:r>
            <a:r>
              <a:rPr sz="1200" dirty="0">
                <a:latin typeface="Times New Roman"/>
                <a:cs typeface="Times New Roman"/>
              </a:rPr>
              <a:t>information,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compositions,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match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scheduling,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referee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assignments,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disciplinary </a:t>
            </a:r>
            <a:r>
              <a:rPr sz="1200" dirty="0">
                <a:latin typeface="Times New Roman"/>
                <a:cs typeface="Times New Roman"/>
              </a:rPr>
              <a:t>actions.</a:t>
            </a:r>
            <a:r>
              <a:rPr sz="1200" spc="2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Developed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2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Lab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course</a:t>
            </a:r>
            <a:r>
              <a:rPr sz="1200" spc="20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</a:t>
            </a:r>
            <a:r>
              <a:rPr sz="1200" spc="2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Shahjalal </a:t>
            </a:r>
            <a:r>
              <a:rPr sz="1200" dirty="0">
                <a:latin typeface="Times New Roman"/>
                <a:cs typeface="Times New Roman"/>
              </a:rPr>
              <a:t>University</a:t>
            </a:r>
            <a:r>
              <a:rPr sz="1200" spc="3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Science and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Technology,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lang="en-US" sz="1200" spc="-10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practical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implementation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of </a:t>
            </a:r>
            <a:r>
              <a:rPr sz="1200" dirty="0">
                <a:latin typeface="Times New Roman"/>
                <a:cs typeface="Times New Roman"/>
              </a:rPr>
              <a:t>relational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concepts</a:t>
            </a:r>
            <a:r>
              <a:rPr lang="en-US" sz="1200" dirty="0">
                <a:latin typeface="Times New Roman"/>
                <a:cs typeface="Times New Roman"/>
              </a:rPr>
              <a:t>,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including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entity-</a:t>
            </a:r>
            <a:r>
              <a:rPr sz="1200" dirty="0">
                <a:latin typeface="Times New Roman"/>
                <a:cs typeface="Times New Roman"/>
              </a:rPr>
              <a:t>relationship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modeling,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normalization,</a:t>
            </a:r>
            <a:r>
              <a:rPr sz="1200" spc="4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complex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formulation.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league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administrators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powerful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tools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track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player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statistics,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rosters,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analyze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match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outcomes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maintaining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integrity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carefully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constraints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relationships.</a:t>
            </a:r>
            <a:endParaRPr sz="1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7515" y="3704649"/>
            <a:ext cx="5862211" cy="55242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28720" y="9996931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368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Chapter</a:t>
            </a:r>
            <a:r>
              <a:rPr spc="-55" dirty="0"/>
              <a:t> </a:t>
            </a:r>
            <a:r>
              <a:rPr spc="-50" dirty="0"/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2004" y="2374772"/>
            <a:ext cx="1706880" cy="39878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spc="-10" dirty="0">
                <a:latin typeface="Times New Roman"/>
                <a:cs typeface="Times New Roman"/>
              </a:rPr>
              <a:t>Introduction</a:t>
            </a:r>
            <a:endParaRPr sz="24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503555" lvl="1" indent="-49085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03555" algn="l"/>
              </a:tabLst>
            </a:pPr>
            <a:r>
              <a:rPr sz="1700" b="1" dirty="0">
                <a:latin typeface="Times New Roman"/>
                <a:cs typeface="Times New Roman"/>
              </a:rPr>
              <a:t>Project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Overview</a:t>
            </a:r>
            <a:endParaRPr sz="17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130"/>
              </a:spcBef>
            </a:pPr>
            <a:r>
              <a:rPr sz="1200" b="0" dirty="0">
                <a:latin typeface="Times New Roman"/>
                <a:cs typeface="Times New Roman"/>
              </a:rPr>
              <a:t>The</a:t>
            </a:r>
            <a:r>
              <a:rPr sz="1200" b="0" spc="-1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League</a:t>
            </a:r>
            <a:r>
              <a:rPr sz="1200" b="0" spc="-1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Pro</a:t>
            </a:r>
            <a:r>
              <a:rPr sz="1200" b="0" spc="-1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Database</a:t>
            </a:r>
            <a:r>
              <a:rPr sz="1200" b="0" spc="-1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Management</a:t>
            </a:r>
            <a:r>
              <a:rPr sz="1200" b="0" spc="1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System</a:t>
            </a:r>
            <a:r>
              <a:rPr sz="1200" b="0" spc="-55" dirty="0">
                <a:latin typeface="Times New Roman"/>
                <a:cs typeface="Times New Roman"/>
              </a:rPr>
              <a:t> </a:t>
            </a:r>
            <a:r>
              <a:rPr lang="en-US" sz="1200" b="0" dirty="0">
                <a:latin typeface="Times New Roman"/>
                <a:cs typeface="Times New Roman"/>
              </a:rPr>
              <a:t>is</a:t>
            </a:r>
            <a:r>
              <a:rPr sz="1200" b="0" spc="-2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a</a:t>
            </a:r>
            <a:r>
              <a:rPr sz="1200" b="0" spc="2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centralized</a:t>
            </a:r>
            <a:r>
              <a:rPr sz="1200" b="0" spc="-1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platform</a:t>
            </a:r>
            <a:r>
              <a:rPr sz="1200" b="0" spc="-3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for</a:t>
            </a:r>
            <a:r>
              <a:rPr sz="1200" b="0" spc="-5" dirty="0">
                <a:latin typeface="Times New Roman"/>
                <a:cs typeface="Times New Roman"/>
              </a:rPr>
              <a:t> </a:t>
            </a:r>
            <a:r>
              <a:rPr sz="1200" b="0" spc="-10" dirty="0">
                <a:latin typeface="Times New Roman"/>
                <a:cs typeface="Times New Roman"/>
              </a:rPr>
              <a:t>managing </a:t>
            </a:r>
            <a:r>
              <a:rPr sz="1200" b="0" spc="-20" dirty="0">
                <a:latin typeface="Times New Roman"/>
                <a:cs typeface="Times New Roman"/>
              </a:rPr>
              <a:t>all</a:t>
            </a:r>
            <a:r>
              <a:rPr sz="1200" b="0" spc="-5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aspects</a:t>
            </a:r>
            <a:r>
              <a:rPr sz="1200" b="0" spc="-7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of</a:t>
            </a:r>
            <a:r>
              <a:rPr sz="1200" b="0" spc="-75" dirty="0">
                <a:latin typeface="Times New Roman"/>
                <a:cs typeface="Times New Roman"/>
              </a:rPr>
              <a:t> </a:t>
            </a:r>
            <a:r>
              <a:rPr sz="1200" b="0" spc="-10" dirty="0">
                <a:latin typeface="Times New Roman"/>
                <a:cs typeface="Times New Roman"/>
              </a:rPr>
              <a:t>professional</a:t>
            </a:r>
            <a:r>
              <a:rPr sz="1200" b="0" spc="-4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sports</a:t>
            </a:r>
            <a:r>
              <a:rPr sz="1200" b="0" spc="-60" dirty="0">
                <a:latin typeface="Times New Roman"/>
                <a:cs typeface="Times New Roman"/>
              </a:rPr>
              <a:t> </a:t>
            </a:r>
            <a:r>
              <a:rPr sz="1200" b="0" spc="-10" dirty="0">
                <a:latin typeface="Times New Roman"/>
                <a:cs typeface="Times New Roman"/>
              </a:rPr>
              <a:t>league</a:t>
            </a:r>
            <a:r>
              <a:rPr sz="1200" b="0" spc="-3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administration.</a:t>
            </a:r>
            <a:r>
              <a:rPr sz="1200" b="0" spc="9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Our</a:t>
            </a:r>
            <a:r>
              <a:rPr sz="1200" b="0" spc="-30" dirty="0">
                <a:latin typeface="Times New Roman"/>
                <a:cs typeface="Times New Roman"/>
              </a:rPr>
              <a:t> </a:t>
            </a:r>
            <a:r>
              <a:rPr sz="1200" b="0" spc="-10" dirty="0">
                <a:latin typeface="Times New Roman"/>
                <a:cs typeface="Times New Roman"/>
              </a:rPr>
              <a:t>system</a:t>
            </a:r>
            <a:r>
              <a:rPr sz="1200" b="0" spc="-65" dirty="0">
                <a:latin typeface="Times New Roman"/>
                <a:cs typeface="Times New Roman"/>
              </a:rPr>
              <a:t> </a:t>
            </a:r>
            <a:r>
              <a:rPr sz="1200" b="0" spc="-10" dirty="0">
                <a:latin typeface="Times New Roman"/>
                <a:cs typeface="Times New Roman"/>
              </a:rPr>
              <a:t>addresses</a:t>
            </a:r>
            <a:r>
              <a:rPr sz="1200" b="0" spc="-4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the</a:t>
            </a:r>
            <a:r>
              <a:rPr sz="1200" b="0" spc="-30" dirty="0">
                <a:latin typeface="Times New Roman"/>
                <a:cs typeface="Times New Roman"/>
              </a:rPr>
              <a:t> </a:t>
            </a:r>
            <a:r>
              <a:rPr sz="1200" b="0" spc="-20" dirty="0">
                <a:latin typeface="Times New Roman"/>
                <a:cs typeface="Times New Roman"/>
              </a:rPr>
              <a:t>critical</a:t>
            </a:r>
            <a:r>
              <a:rPr sz="1200" b="0" spc="-50" dirty="0">
                <a:latin typeface="Times New Roman"/>
                <a:cs typeface="Times New Roman"/>
              </a:rPr>
              <a:t> </a:t>
            </a:r>
            <a:r>
              <a:rPr sz="1200" b="0" spc="-10" dirty="0">
                <a:latin typeface="Times New Roman"/>
                <a:cs typeface="Times New Roman"/>
              </a:rPr>
              <a:t>needs </a:t>
            </a:r>
            <a:r>
              <a:rPr sz="1200" b="0" spc="-25" dirty="0">
                <a:latin typeface="Times New Roman"/>
                <a:cs typeface="Times New Roman"/>
              </a:rPr>
              <a:t>of:</a:t>
            </a:r>
            <a:endParaRPr sz="1200" dirty="0">
              <a:latin typeface="Times New Roman"/>
              <a:cs typeface="Times New Roman"/>
            </a:endParaRPr>
          </a:p>
          <a:p>
            <a:pPr marL="381000" lvl="2" indent="-124460">
              <a:lnSpc>
                <a:spcPct val="100000"/>
              </a:lnSpc>
              <a:spcBef>
                <a:spcPts val="1010"/>
              </a:spcBef>
              <a:buChar char="•"/>
              <a:tabLst>
                <a:tab pos="381000" algn="l"/>
              </a:tabLst>
            </a:pPr>
            <a:r>
              <a:rPr sz="1200" dirty="0">
                <a:latin typeface="Times New Roman"/>
                <a:cs typeface="Times New Roman"/>
              </a:rPr>
              <a:t>Player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management</a:t>
            </a:r>
            <a:endParaRPr sz="1200" dirty="0">
              <a:latin typeface="Times New Roman"/>
              <a:cs typeface="Times New Roman"/>
            </a:endParaRPr>
          </a:p>
          <a:p>
            <a:pPr marL="381000" lvl="2" indent="-124460">
              <a:lnSpc>
                <a:spcPct val="100000"/>
              </a:lnSpc>
              <a:spcBef>
                <a:spcPts val="1010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Match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scheduling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tracking</a:t>
            </a:r>
            <a:endParaRPr sz="1200" dirty="0">
              <a:latin typeface="Times New Roman"/>
              <a:cs typeface="Times New Roman"/>
            </a:endParaRPr>
          </a:p>
          <a:p>
            <a:pPr marL="381000" lvl="2" indent="-124460">
              <a:lnSpc>
                <a:spcPct val="100000"/>
              </a:lnSpc>
              <a:spcBef>
                <a:spcPts val="980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Referee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assignment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monitoring</a:t>
            </a:r>
            <a:endParaRPr sz="1200" dirty="0">
              <a:latin typeface="Times New Roman"/>
              <a:cs typeface="Times New Roman"/>
            </a:endParaRPr>
          </a:p>
          <a:p>
            <a:pPr marL="381000" lvl="2" indent="-124460">
              <a:lnSpc>
                <a:spcPct val="100000"/>
              </a:lnSpc>
              <a:spcBef>
                <a:spcPts val="1010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Disciplinary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tracking</a:t>
            </a:r>
            <a:endParaRPr sz="1200" dirty="0">
              <a:latin typeface="Times New Roman"/>
              <a:cs typeface="Times New Roman"/>
            </a:endParaRPr>
          </a:p>
          <a:p>
            <a:pPr marL="381000" lvl="2" indent="-124460">
              <a:lnSpc>
                <a:spcPct val="100000"/>
              </a:lnSpc>
              <a:spcBef>
                <a:spcPts val="1010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Statistical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reporting</a:t>
            </a:r>
            <a:endParaRPr sz="1200" dirty="0">
              <a:latin typeface="Times New Roman"/>
              <a:cs typeface="Times New Roman"/>
            </a:endParaRPr>
          </a:p>
          <a:p>
            <a:pPr marL="12700" marR="8255" indent="222250" algn="just">
              <a:lnSpc>
                <a:spcPct val="100000"/>
              </a:lnSpc>
              <a:spcBef>
                <a:spcPts val="1010"/>
              </a:spcBef>
            </a:pPr>
            <a:r>
              <a:rPr sz="1200" b="0" dirty="0">
                <a:latin typeface="Times New Roman"/>
                <a:cs typeface="Times New Roman"/>
              </a:rPr>
              <a:t>Developed</a:t>
            </a:r>
            <a:r>
              <a:rPr sz="1200" b="0" spc="-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at</a:t>
            </a:r>
            <a:r>
              <a:rPr sz="1200" b="0" spc="30" dirty="0">
                <a:latin typeface="Times New Roman"/>
                <a:cs typeface="Times New Roman"/>
              </a:rPr>
              <a:t> </a:t>
            </a:r>
            <a:r>
              <a:rPr sz="1200" b="0" spc="-10" dirty="0">
                <a:latin typeface="Times New Roman"/>
                <a:cs typeface="Times New Roman"/>
              </a:rPr>
              <a:t>Shahjalal</a:t>
            </a:r>
            <a:r>
              <a:rPr sz="1200" b="0" spc="-2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University</a:t>
            </a:r>
            <a:r>
              <a:rPr sz="1200" b="0" spc="-2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of</a:t>
            </a:r>
            <a:r>
              <a:rPr sz="1200" b="0" spc="-3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Science and</a:t>
            </a:r>
            <a:r>
              <a:rPr sz="1200" b="0" spc="2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Technology’s</a:t>
            </a:r>
            <a:r>
              <a:rPr sz="1200" b="0" spc="-1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Department of</a:t>
            </a:r>
            <a:r>
              <a:rPr sz="1200" b="0" spc="-30" dirty="0">
                <a:latin typeface="Times New Roman"/>
                <a:cs typeface="Times New Roman"/>
              </a:rPr>
              <a:t> </a:t>
            </a:r>
            <a:r>
              <a:rPr sz="1200" b="0" spc="-10" dirty="0">
                <a:latin typeface="Times New Roman"/>
                <a:cs typeface="Times New Roman"/>
              </a:rPr>
              <a:t>Computer </a:t>
            </a:r>
            <a:r>
              <a:rPr sz="1200" b="0" dirty="0">
                <a:latin typeface="Times New Roman"/>
                <a:cs typeface="Times New Roman"/>
              </a:rPr>
              <a:t>Science</a:t>
            </a:r>
            <a:r>
              <a:rPr sz="1200" b="0" spc="14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&amp;</a:t>
            </a:r>
            <a:r>
              <a:rPr sz="1200" b="0" spc="12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Engineering,</a:t>
            </a:r>
            <a:r>
              <a:rPr sz="1200" b="0" spc="12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this</a:t>
            </a:r>
            <a:r>
              <a:rPr sz="1200" b="0" spc="12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project</a:t>
            </a:r>
            <a:r>
              <a:rPr sz="1200" b="0" spc="16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represents</a:t>
            </a:r>
            <a:r>
              <a:rPr sz="1200" b="0" spc="12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the</a:t>
            </a:r>
            <a:r>
              <a:rPr sz="1200" b="0" spc="13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culmination</a:t>
            </a:r>
            <a:r>
              <a:rPr sz="1200" b="0" spc="11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of</a:t>
            </a:r>
            <a:r>
              <a:rPr sz="1200" b="0" spc="10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our</a:t>
            </a:r>
            <a:r>
              <a:rPr sz="1200" b="0" spc="12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learning</a:t>
            </a:r>
            <a:r>
              <a:rPr sz="1200" b="0" spc="16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in</a:t>
            </a:r>
            <a:r>
              <a:rPr sz="1200" b="0" spc="114" dirty="0">
                <a:latin typeface="Times New Roman"/>
                <a:cs typeface="Times New Roman"/>
              </a:rPr>
              <a:t> </a:t>
            </a:r>
            <a:r>
              <a:rPr sz="1200" b="0" spc="-10" dirty="0">
                <a:latin typeface="Times New Roman"/>
                <a:cs typeface="Times New Roman"/>
              </a:rPr>
              <a:t>database </a:t>
            </a:r>
            <a:r>
              <a:rPr sz="1200" b="0" dirty="0">
                <a:latin typeface="Times New Roman"/>
                <a:cs typeface="Times New Roman"/>
              </a:rPr>
              <a:t>design</a:t>
            </a:r>
            <a:r>
              <a:rPr sz="1200" b="0" spc="-40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and </a:t>
            </a:r>
            <a:r>
              <a:rPr sz="1200" b="0" spc="-10" dirty="0">
                <a:latin typeface="Times New Roman"/>
                <a:cs typeface="Times New Roman"/>
              </a:rPr>
              <a:t>implementation.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503555" lvl="1" indent="-490855">
              <a:lnSpc>
                <a:spcPct val="100000"/>
              </a:lnSpc>
              <a:buAutoNum type="arabicPeriod" startAt="2"/>
              <a:tabLst>
                <a:tab pos="503555" algn="l"/>
              </a:tabLst>
            </a:pPr>
            <a:r>
              <a:rPr sz="1700" b="1" spc="-10" dirty="0">
                <a:latin typeface="Times New Roman"/>
                <a:cs typeface="Times New Roman"/>
              </a:rPr>
              <a:t>Objectives</a:t>
            </a:r>
            <a:endParaRPr sz="17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125"/>
              </a:spcBef>
            </a:pPr>
            <a:r>
              <a:rPr sz="1200" b="0" dirty="0">
                <a:latin typeface="Times New Roman"/>
                <a:cs typeface="Times New Roman"/>
              </a:rPr>
              <a:t>The</a:t>
            </a:r>
            <a:r>
              <a:rPr sz="1200" b="0" spc="-30" dirty="0">
                <a:latin typeface="Times New Roman"/>
                <a:cs typeface="Times New Roman"/>
              </a:rPr>
              <a:t> </a:t>
            </a:r>
            <a:r>
              <a:rPr sz="1200" b="0" spc="-10" dirty="0">
                <a:latin typeface="Times New Roman"/>
                <a:cs typeface="Times New Roman"/>
              </a:rPr>
              <a:t>primary</a:t>
            </a:r>
            <a:r>
              <a:rPr sz="1200" b="0" spc="-70" dirty="0">
                <a:latin typeface="Times New Roman"/>
                <a:cs typeface="Times New Roman"/>
              </a:rPr>
              <a:t> </a:t>
            </a:r>
            <a:r>
              <a:rPr sz="1200" b="0" spc="-10" dirty="0">
                <a:latin typeface="Times New Roman"/>
                <a:cs typeface="Times New Roman"/>
              </a:rPr>
              <a:t>objectives</a:t>
            </a:r>
            <a:r>
              <a:rPr sz="1200" b="0" spc="-3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of</a:t>
            </a:r>
            <a:r>
              <a:rPr sz="1200" b="0" spc="-65" dirty="0">
                <a:latin typeface="Times New Roman"/>
                <a:cs typeface="Times New Roman"/>
              </a:rPr>
              <a:t> </a:t>
            </a:r>
            <a:r>
              <a:rPr sz="1200" b="0" dirty="0">
                <a:latin typeface="Times New Roman"/>
                <a:cs typeface="Times New Roman"/>
              </a:rPr>
              <a:t>this</a:t>
            </a:r>
            <a:r>
              <a:rPr sz="1200" b="0" spc="-30" dirty="0">
                <a:latin typeface="Times New Roman"/>
                <a:cs typeface="Times New Roman"/>
              </a:rPr>
              <a:t> </a:t>
            </a:r>
            <a:r>
              <a:rPr sz="1200" b="0" spc="-10" dirty="0">
                <a:latin typeface="Times New Roman"/>
                <a:cs typeface="Times New Roman"/>
              </a:rPr>
              <a:t>project</a:t>
            </a:r>
            <a:r>
              <a:rPr sz="1200" b="0" spc="5" dirty="0">
                <a:latin typeface="Times New Roman"/>
                <a:cs typeface="Times New Roman"/>
              </a:rPr>
              <a:t> </a:t>
            </a:r>
            <a:r>
              <a:rPr sz="1200" b="0" spc="-10" dirty="0">
                <a:latin typeface="Times New Roman"/>
                <a:cs typeface="Times New Roman"/>
              </a:rPr>
              <a:t>include:</a:t>
            </a:r>
            <a:endParaRPr sz="1200" dirty="0">
              <a:latin typeface="Times New Roman"/>
              <a:cs typeface="Times New Roman"/>
            </a:endParaRPr>
          </a:p>
          <a:p>
            <a:pPr marL="381000" lvl="2" indent="-124460">
              <a:lnSpc>
                <a:spcPct val="100000"/>
              </a:lnSpc>
              <a:spcBef>
                <a:spcPts val="1010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Designing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normalized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schema </a:t>
            </a:r>
            <a:r>
              <a:rPr sz="1200" dirty="0">
                <a:latin typeface="Times New Roman"/>
                <a:cs typeface="Times New Roman"/>
              </a:rPr>
              <a:t>for </a:t>
            </a:r>
            <a:r>
              <a:rPr sz="1200" spc="-10" dirty="0">
                <a:latin typeface="Times New Roman"/>
                <a:cs typeface="Times New Roman"/>
              </a:rPr>
              <a:t>league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management</a:t>
            </a:r>
            <a:endParaRPr sz="1200" dirty="0">
              <a:latin typeface="Times New Roman"/>
              <a:cs typeface="Times New Roman"/>
            </a:endParaRPr>
          </a:p>
          <a:p>
            <a:pPr marL="381000" lvl="2" indent="-124460">
              <a:lnSpc>
                <a:spcPct val="100000"/>
              </a:lnSpc>
              <a:spcBef>
                <a:spcPts val="1005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Implementing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complex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relationships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between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entities</a:t>
            </a:r>
            <a:endParaRPr sz="1200" dirty="0">
              <a:latin typeface="Times New Roman"/>
              <a:cs typeface="Times New Roman"/>
            </a:endParaRPr>
          </a:p>
          <a:p>
            <a:pPr marL="381000" lvl="2" indent="-124460">
              <a:lnSpc>
                <a:spcPct val="100000"/>
              </a:lnSpc>
              <a:spcBef>
                <a:spcPts val="985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Creating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efficient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query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mechanisms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retrieval</a:t>
            </a:r>
            <a:endParaRPr sz="1200" dirty="0">
              <a:latin typeface="Times New Roman"/>
              <a:cs typeface="Times New Roman"/>
            </a:endParaRPr>
          </a:p>
          <a:p>
            <a:pPr marL="381000" lvl="2" indent="-124460">
              <a:lnSpc>
                <a:spcPct val="100000"/>
              </a:lnSpc>
              <a:spcBef>
                <a:spcPts val="1010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Ensuring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integrity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constraints</a:t>
            </a:r>
            <a:endParaRPr sz="1200" dirty="0">
              <a:latin typeface="Times New Roman"/>
              <a:cs typeface="Times New Roman"/>
            </a:endParaRPr>
          </a:p>
          <a:p>
            <a:pPr marL="381000" lvl="2" indent="-124460">
              <a:lnSpc>
                <a:spcPct val="100000"/>
              </a:lnSpc>
              <a:spcBef>
                <a:spcPts val="1010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Providing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comprehensive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capabilities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1767" y="9996931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39954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METHODOLOGY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EA87D1-9328-56F1-0A6B-479851089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50" y="1775504"/>
            <a:ext cx="5943600" cy="732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28720" y="9996931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2004" y="1185418"/>
            <a:ext cx="1365885" cy="3987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Chapter</a:t>
            </a:r>
            <a:r>
              <a:rPr spc="-55" dirty="0"/>
              <a:t> </a:t>
            </a:r>
            <a:r>
              <a:rPr spc="-50" dirty="0"/>
              <a:t>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2004" y="1816734"/>
            <a:ext cx="3211830" cy="1163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dirty="0">
                <a:latin typeface="Times New Roman"/>
                <a:cs typeface="Times New Roman"/>
              </a:rPr>
              <a:t>Database</a:t>
            </a:r>
            <a:r>
              <a:rPr sz="2450" b="1" spc="-80" dirty="0">
                <a:latin typeface="Times New Roman"/>
                <a:cs typeface="Times New Roman"/>
              </a:rPr>
              <a:t> </a:t>
            </a:r>
            <a:r>
              <a:rPr sz="2450" b="1" spc="-10" dirty="0">
                <a:latin typeface="Times New Roman"/>
                <a:cs typeface="Times New Roman"/>
              </a:rPr>
              <a:t>Design</a:t>
            </a: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03555" algn="l"/>
              </a:tabLst>
            </a:pPr>
            <a:r>
              <a:rPr sz="1700" b="1" spc="-25" dirty="0">
                <a:latin typeface="Times New Roman"/>
                <a:cs typeface="Times New Roman"/>
              </a:rPr>
              <a:t>2.1</a:t>
            </a:r>
            <a:r>
              <a:rPr sz="1700" b="1" dirty="0">
                <a:latin typeface="Times New Roman"/>
                <a:cs typeface="Times New Roman"/>
              </a:rPr>
              <a:t>	</a:t>
            </a:r>
            <a:r>
              <a:rPr sz="1700" b="1" spc="-10" dirty="0">
                <a:latin typeface="Times New Roman"/>
                <a:cs typeface="Times New Roman"/>
              </a:rPr>
              <a:t>Entity-</a:t>
            </a:r>
            <a:r>
              <a:rPr sz="1700" b="1" dirty="0">
                <a:latin typeface="Times New Roman"/>
                <a:cs typeface="Times New Roman"/>
              </a:rPr>
              <a:t>Relationship</a:t>
            </a:r>
            <a:r>
              <a:rPr sz="1700" b="1" spc="8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Diagram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1495" y="8563736"/>
            <a:ext cx="3963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Figure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2.1: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Entity-</a:t>
            </a:r>
            <a:r>
              <a:rPr sz="1200" spc="-10" dirty="0">
                <a:latin typeface="Times New Roman"/>
                <a:cs typeface="Times New Roman"/>
              </a:rPr>
              <a:t>Relationship Diagram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League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CEB014-2570-AF1F-402B-1CE5277DA0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50" y="3162045"/>
            <a:ext cx="5867400" cy="521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1767" y="9996931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95985"/>
            <a:ext cx="2240280" cy="888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Chapter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2.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Design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ts val="2014"/>
              </a:lnSpc>
              <a:spcBef>
                <a:spcPts val="5"/>
              </a:spcBef>
              <a:tabLst>
                <a:tab pos="503555" algn="l"/>
              </a:tabLst>
            </a:pPr>
            <a:r>
              <a:rPr sz="1700" b="1" spc="-25" dirty="0">
                <a:latin typeface="Times New Roman"/>
                <a:cs typeface="Times New Roman"/>
              </a:rPr>
              <a:t>2.2</a:t>
            </a:r>
            <a:r>
              <a:rPr sz="1700" b="1" dirty="0">
                <a:latin typeface="Times New Roman"/>
                <a:cs typeface="Times New Roman"/>
              </a:rPr>
              <a:t>	Relational</a:t>
            </a:r>
            <a:r>
              <a:rPr sz="1700" b="1" spc="5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Schema</a:t>
            </a: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ts val="1415"/>
              </a:lnSpc>
            </a:pP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64630" y="395985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5905245"/>
            <a:ext cx="5621020" cy="24676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39065"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Figure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2.2: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Relational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Schema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Diagram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503555" lvl="1" indent="-49085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03555" algn="l"/>
              </a:tabLst>
            </a:pPr>
            <a:r>
              <a:rPr sz="1700" b="1" dirty="0">
                <a:latin typeface="Times New Roman"/>
                <a:cs typeface="Times New Roman"/>
              </a:rPr>
              <a:t>Normalization</a:t>
            </a:r>
            <a:r>
              <a:rPr sz="1700" b="1" spc="45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Process</a:t>
            </a:r>
            <a:endParaRPr sz="17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150"/>
              </a:spcBef>
            </a:pPr>
            <a:r>
              <a:rPr sz="1200" dirty="0">
                <a:latin typeface="Times New Roman"/>
                <a:cs typeface="Times New Roman"/>
              </a:rPr>
              <a:t>Our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adheres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3NF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(Third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Normal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Form)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following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normalization steps:</a:t>
            </a:r>
            <a:endParaRPr sz="1200" dirty="0">
              <a:latin typeface="Times New Roman"/>
              <a:cs typeface="Times New Roman"/>
            </a:endParaRPr>
          </a:p>
          <a:p>
            <a:pPr marL="381000" lvl="2" indent="-124460">
              <a:lnSpc>
                <a:spcPct val="100000"/>
              </a:lnSpc>
              <a:spcBef>
                <a:spcPts val="935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Identification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functional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dependencies</a:t>
            </a:r>
            <a:endParaRPr sz="1200" dirty="0">
              <a:latin typeface="Times New Roman"/>
              <a:cs typeface="Times New Roman"/>
            </a:endParaRPr>
          </a:p>
          <a:p>
            <a:pPr marL="381000" lvl="2" indent="-124460">
              <a:lnSpc>
                <a:spcPct val="100000"/>
              </a:lnSpc>
              <a:spcBef>
                <a:spcPts val="1010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Elimination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repeating </a:t>
            </a:r>
            <a:r>
              <a:rPr sz="1200" dirty="0">
                <a:latin typeface="Times New Roman"/>
                <a:cs typeface="Times New Roman"/>
              </a:rPr>
              <a:t>groups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(1NF)</a:t>
            </a:r>
            <a:endParaRPr sz="1200" dirty="0">
              <a:latin typeface="Times New Roman"/>
              <a:cs typeface="Times New Roman"/>
            </a:endParaRPr>
          </a:p>
          <a:p>
            <a:pPr marL="381000" lvl="2" indent="-124460">
              <a:lnSpc>
                <a:spcPct val="100000"/>
              </a:lnSpc>
              <a:spcBef>
                <a:spcPts val="985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Removal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partial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dependencies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(2NF)</a:t>
            </a:r>
            <a:endParaRPr sz="1200" dirty="0">
              <a:latin typeface="Times New Roman"/>
              <a:cs typeface="Times New Roman"/>
            </a:endParaRPr>
          </a:p>
          <a:p>
            <a:pPr marL="381000" lvl="2" indent="-124460">
              <a:lnSpc>
                <a:spcPct val="100000"/>
              </a:lnSpc>
              <a:spcBef>
                <a:spcPts val="985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Elimination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transitive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dependencies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(3NF)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621029"/>
            <a:ext cx="5731510" cy="0"/>
          </a:xfrm>
          <a:custGeom>
            <a:avLst/>
            <a:gdLst/>
            <a:ahLst/>
            <a:cxnLst/>
            <a:rect l="l" t="t" r="r" b="b"/>
            <a:pathLst>
              <a:path w="5731509">
                <a:moveTo>
                  <a:pt x="0" y="0"/>
                </a:moveTo>
                <a:lnTo>
                  <a:pt x="5731256" y="0"/>
                </a:lnTo>
              </a:path>
            </a:pathLst>
          </a:custGeom>
          <a:ln w="63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AD146F-CA6D-8E60-B22C-9D4EE71C3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9" y="1149926"/>
            <a:ext cx="7359650" cy="417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892809"/>
            <a:ext cx="1365885" cy="3987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Chapter</a:t>
            </a:r>
            <a:r>
              <a:rPr spc="-55" dirty="0"/>
              <a:t> </a:t>
            </a: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524126"/>
            <a:ext cx="2136140" cy="39878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spc="-10" dirty="0">
                <a:latin typeface="Times New Roman"/>
                <a:cs typeface="Times New Roman"/>
              </a:rPr>
              <a:t>Implementation</a:t>
            </a:r>
            <a:endParaRPr sz="24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2155443"/>
            <a:ext cx="5801995" cy="833164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503555" lvl="1" indent="-490855">
              <a:lnSpc>
                <a:spcPts val="1955"/>
              </a:lnSpc>
              <a:spcBef>
                <a:spcPts val="100"/>
              </a:spcBef>
              <a:buSzPct val="141666"/>
              <a:buFont typeface="Times New Roman"/>
              <a:buAutoNum type="arabicPeriod"/>
              <a:tabLst>
                <a:tab pos="503555" algn="l"/>
              </a:tabLst>
            </a:pPr>
            <a:r>
              <a:rPr sz="1200" dirty="0">
                <a:latin typeface="Times New Roman"/>
                <a:cs typeface="Times New Roman"/>
              </a:rPr>
              <a:t>SQL </a:t>
            </a:r>
            <a:r>
              <a:rPr sz="1200" spc="-10" dirty="0">
                <a:latin typeface="Times New Roman"/>
                <a:cs typeface="Times New Roman"/>
              </a:rPr>
              <a:t>Queries</a:t>
            </a:r>
            <a:endParaRPr sz="1200" dirty="0">
              <a:latin typeface="Times New Roman"/>
              <a:cs typeface="Times New Roman"/>
            </a:endParaRPr>
          </a:p>
          <a:p>
            <a:pPr marL="503555" lvl="1" indent="-490855">
              <a:lnSpc>
                <a:spcPts val="1860"/>
              </a:lnSpc>
              <a:buSzPct val="141666"/>
              <a:buFont typeface="Times New Roman"/>
              <a:buAutoNum type="arabicPeriod"/>
              <a:tabLst>
                <a:tab pos="503555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five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queries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Football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League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ts val="1850"/>
              </a:lnSpc>
            </a:pPr>
            <a:r>
              <a:rPr sz="1700" b="1" spc="-25" dirty="0">
                <a:latin typeface="Times New Roman"/>
                <a:cs typeface="Times New Roman"/>
              </a:rPr>
              <a:t>3.3</a:t>
            </a:r>
            <a:endParaRPr sz="1700" dirty="0">
              <a:latin typeface="Times New Roman"/>
              <a:cs typeface="Times New Roman"/>
            </a:endParaRPr>
          </a:p>
          <a:p>
            <a:pPr marL="503555" lvl="1" indent="-490855">
              <a:lnSpc>
                <a:spcPts val="1850"/>
              </a:lnSpc>
              <a:buSzPct val="141666"/>
              <a:buFont typeface="Times New Roman"/>
              <a:buAutoNum type="arabicPeriod" startAt="4"/>
              <a:tabLst>
                <a:tab pos="503555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1.</a:t>
            </a:r>
            <a:r>
              <a:rPr sz="1200" spc="-10" dirty="0">
                <a:latin typeface="Times New Roman"/>
                <a:cs typeface="Times New Roman"/>
              </a:rPr>
              <a:t> Simple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SELECT-FROM-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(no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joins,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subqueries,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 </a:t>
            </a:r>
            <a:r>
              <a:rPr sz="1200" spc="-10" dirty="0">
                <a:latin typeface="Times New Roman"/>
                <a:cs typeface="Times New Roman"/>
              </a:rPr>
              <a:t>aggregates)</a:t>
            </a:r>
            <a:endParaRPr sz="1200" dirty="0">
              <a:latin typeface="Times New Roman"/>
              <a:cs typeface="Times New Roman"/>
            </a:endParaRPr>
          </a:p>
          <a:p>
            <a:pPr marL="503555" lvl="1" indent="-490855">
              <a:lnSpc>
                <a:spcPts val="1850"/>
              </a:lnSpc>
              <a:buSzPct val="141666"/>
              <a:buFont typeface="Times New Roman"/>
              <a:buAutoNum type="arabicPeriod" startAt="4"/>
              <a:tabLst>
                <a:tab pos="503555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players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who are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forwards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skills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above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8.0</a:t>
            </a:r>
            <a:endParaRPr sz="1200" dirty="0">
              <a:latin typeface="Times New Roman"/>
              <a:cs typeface="Times New Roman"/>
            </a:endParaRPr>
          </a:p>
          <a:p>
            <a:pPr marL="503555" lvl="1" indent="-490855">
              <a:lnSpc>
                <a:spcPts val="1850"/>
              </a:lnSpc>
              <a:buSzPct val="141666"/>
              <a:buFont typeface="Times New Roman"/>
              <a:buAutoNum type="arabicPeriod" startAt="4"/>
              <a:tabLst>
                <a:tab pos="503555" algn="l"/>
              </a:tabLst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Player_ID,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Skills_Rating,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Team_ID</a:t>
            </a:r>
            <a:endParaRPr sz="1200" dirty="0">
              <a:latin typeface="Times New Roman"/>
              <a:cs typeface="Times New Roman"/>
            </a:endParaRPr>
          </a:p>
          <a:p>
            <a:pPr marL="503555" lvl="1" indent="-490855">
              <a:lnSpc>
                <a:spcPts val="1850"/>
              </a:lnSpc>
              <a:buSzPct val="141666"/>
              <a:buFont typeface="Times New Roman"/>
              <a:buAutoNum type="arabicPeriod" startAt="4"/>
              <a:tabLst>
                <a:tab pos="503555" algn="l"/>
              </a:tabLst>
            </a:pP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Player</a:t>
            </a:r>
            <a:endParaRPr sz="1200" dirty="0">
              <a:latin typeface="Times New Roman"/>
              <a:cs typeface="Times New Roman"/>
            </a:endParaRPr>
          </a:p>
          <a:p>
            <a:pPr marL="503555" lvl="1" indent="-490855">
              <a:lnSpc>
                <a:spcPts val="1835"/>
              </a:lnSpc>
              <a:buSzPct val="141666"/>
              <a:buFont typeface="Times New Roman"/>
              <a:buAutoNum type="arabicPeriod" startAt="4"/>
              <a:tabLst>
                <a:tab pos="503555" algn="l"/>
              </a:tabLst>
            </a:pP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Position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'Forward'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Skills_Rating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8.0;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ts val="1835"/>
              </a:lnSpc>
            </a:pPr>
            <a:r>
              <a:rPr sz="1700" b="1" spc="-25" dirty="0">
                <a:latin typeface="Times New Roman"/>
                <a:cs typeface="Times New Roman"/>
              </a:rPr>
              <a:t>3.9</a:t>
            </a:r>
            <a:endParaRPr sz="17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10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10" dirty="0">
                <a:latin typeface="Times New Roman"/>
                <a:cs typeface="Times New Roman"/>
              </a:rPr>
              <a:t> query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aggregate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BY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10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total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players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average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skills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rating</a:t>
            </a:r>
            <a:endParaRPr sz="1200" dirty="0">
              <a:latin typeface="Times New Roman"/>
              <a:cs typeface="Times New Roman"/>
            </a:endParaRPr>
          </a:p>
          <a:p>
            <a:pPr marL="502284" marR="387985" lvl="1" indent="-490220">
              <a:lnSpc>
                <a:spcPct val="88800"/>
              </a:lnSpc>
              <a:spcBef>
                <a:spcPts val="135"/>
              </a:spcBef>
              <a:buSzPct val="141666"/>
              <a:buFont typeface="Times New Roman"/>
              <a:buAutoNum type="arabicPeriod" startAt="10"/>
              <a:tabLst>
                <a:tab pos="503555" algn="l"/>
              </a:tabLst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Team_ID,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COUNT(*)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 </a:t>
            </a:r>
            <a:r>
              <a:rPr sz="1200" spc="-10" dirty="0">
                <a:latin typeface="Times New Roman"/>
                <a:cs typeface="Times New Roman"/>
              </a:rPr>
              <a:t>NumberOfPlayers,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AVG(Skills_Rating)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 	</a:t>
            </a:r>
            <a:r>
              <a:rPr sz="1200" spc="-10" dirty="0">
                <a:latin typeface="Times New Roman"/>
                <a:cs typeface="Times New Roman"/>
              </a:rPr>
              <a:t>AverageSkillsRating,</a:t>
            </a:r>
            <a:endParaRPr sz="1200" dirty="0">
              <a:latin typeface="Times New Roman"/>
              <a:cs typeface="Times New Roman"/>
            </a:endParaRPr>
          </a:p>
          <a:p>
            <a:pPr marL="771525" lvl="1" indent="-758825">
              <a:lnSpc>
                <a:spcPts val="1875"/>
              </a:lnSpc>
              <a:buSzPct val="141666"/>
              <a:buFont typeface="Times New Roman"/>
              <a:buAutoNum type="arabicPeriod" startAt="10"/>
              <a:tabLst>
                <a:tab pos="771525" algn="l"/>
              </a:tabLst>
            </a:pPr>
            <a:r>
              <a:rPr sz="1200" spc="-10" dirty="0">
                <a:latin typeface="Times New Roman"/>
                <a:cs typeface="Times New Roman"/>
              </a:rPr>
              <a:t>MAX(Skills_Rating)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HighestSkillsRating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10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Player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10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GROUP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Team_ID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10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HAVING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AVG(Skills_Rating)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8.0;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ts val="1835"/>
              </a:lnSpc>
            </a:pPr>
            <a:r>
              <a:rPr sz="1700" b="1" spc="-20" dirty="0">
                <a:latin typeface="Times New Roman"/>
                <a:cs typeface="Times New Roman"/>
              </a:rPr>
              <a:t>3.17</a:t>
            </a:r>
            <a:endParaRPr sz="17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39"/>
              </a:lnSpc>
              <a:buSzPct val="141666"/>
              <a:buFont typeface="Times New Roman"/>
              <a:buAutoNum type="arabicPeriod" startAt="18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query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nested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subqueries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18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matches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highest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skilled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player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participated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18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m.Match_ID,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m.Stadium_Name,</a:t>
            </a:r>
            <a:r>
              <a:rPr sz="1200" dirty="0">
                <a:latin typeface="Times New Roman"/>
                <a:cs typeface="Times New Roman"/>
              </a:rPr>
              <a:t> m.Date,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m.Team1_ID,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m.Team2_ID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18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`Match`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m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18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m.Match_ID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(</a:t>
            </a:r>
            <a:endParaRPr sz="1200" dirty="0">
              <a:latin typeface="Times New Roman"/>
              <a:cs typeface="Times New Roman"/>
            </a:endParaRPr>
          </a:p>
          <a:p>
            <a:pPr marL="659130" lvl="1" indent="-646430">
              <a:lnSpc>
                <a:spcPts val="1850"/>
              </a:lnSpc>
              <a:buSzPct val="141666"/>
              <a:buFont typeface="Times New Roman"/>
              <a:buAutoNum type="arabicPeriod" startAt="18"/>
              <a:tabLst>
                <a:tab pos="659130" algn="l"/>
              </a:tabLst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mp.Match_ID</a:t>
            </a:r>
            <a:endParaRPr sz="1200" dirty="0">
              <a:latin typeface="Times New Roman"/>
              <a:cs typeface="Times New Roman"/>
            </a:endParaRPr>
          </a:p>
          <a:p>
            <a:pPr marL="659130" lvl="1" indent="-646430">
              <a:lnSpc>
                <a:spcPts val="1850"/>
              </a:lnSpc>
              <a:buSzPct val="141666"/>
              <a:buFont typeface="Times New Roman"/>
              <a:buAutoNum type="arabicPeriod" startAt="18"/>
              <a:tabLst>
                <a:tab pos="659130" algn="l"/>
              </a:tabLst>
            </a:pP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Match_Player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mp</a:t>
            </a:r>
            <a:endParaRPr sz="1200" dirty="0">
              <a:latin typeface="Times New Roman"/>
              <a:cs typeface="Times New Roman"/>
            </a:endParaRPr>
          </a:p>
          <a:p>
            <a:pPr marL="659130" lvl="1" indent="-646430">
              <a:lnSpc>
                <a:spcPts val="1850"/>
              </a:lnSpc>
              <a:buSzPct val="141666"/>
              <a:buFont typeface="Times New Roman"/>
              <a:buAutoNum type="arabicPeriod" startAt="18"/>
              <a:tabLst>
                <a:tab pos="659130" algn="l"/>
              </a:tabLst>
            </a:pP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mp.Player_ID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60" dirty="0">
                <a:latin typeface="Times New Roman"/>
                <a:cs typeface="Times New Roman"/>
              </a:rPr>
              <a:t>(</a:t>
            </a:r>
            <a:endParaRPr sz="1200" dirty="0">
              <a:latin typeface="Times New Roman"/>
              <a:cs typeface="Times New Roman"/>
            </a:endParaRPr>
          </a:p>
          <a:p>
            <a:pPr marL="811530" lvl="1" indent="-798830">
              <a:lnSpc>
                <a:spcPts val="1850"/>
              </a:lnSpc>
              <a:buSzPct val="141666"/>
              <a:buFont typeface="Times New Roman"/>
              <a:buAutoNum type="arabicPeriod" startAt="18"/>
              <a:tabLst>
                <a:tab pos="811530" algn="l"/>
              </a:tabLst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p.Player_ID</a:t>
            </a:r>
            <a:endParaRPr sz="1200" dirty="0">
              <a:latin typeface="Times New Roman"/>
              <a:cs typeface="Times New Roman"/>
            </a:endParaRPr>
          </a:p>
          <a:p>
            <a:pPr marL="811530" lvl="1" indent="-798830">
              <a:lnSpc>
                <a:spcPts val="1850"/>
              </a:lnSpc>
              <a:buSzPct val="141666"/>
              <a:buFont typeface="Times New Roman"/>
              <a:buAutoNum type="arabicPeriod" startAt="18"/>
              <a:tabLst>
                <a:tab pos="811530" algn="l"/>
              </a:tabLst>
            </a:pP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Player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p</a:t>
            </a:r>
            <a:endParaRPr sz="1200" dirty="0">
              <a:latin typeface="Times New Roman"/>
              <a:cs typeface="Times New Roman"/>
            </a:endParaRPr>
          </a:p>
          <a:p>
            <a:pPr marL="811530" lvl="1" indent="-798830">
              <a:lnSpc>
                <a:spcPts val="1850"/>
              </a:lnSpc>
              <a:buSzPct val="141666"/>
              <a:buFont typeface="Times New Roman"/>
              <a:buAutoNum type="arabicPeriod" startAt="18"/>
              <a:tabLst>
                <a:tab pos="811530" algn="l"/>
              </a:tabLst>
            </a:pPr>
            <a:r>
              <a:rPr sz="1200" dirty="0">
                <a:latin typeface="Times New Roman"/>
                <a:cs typeface="Times New Roman"/>
              </a:rPr>
              <a:t>ORDER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p.Skills_Rating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DESC</a:t>
            </a:r>
            <a:endParaRPr sz="1200" dirty="0">
              <a:latin typeface="Times New Roman"/>
              <a:cs typeface="Times New Roman"/>
            </a:endParaRPr>
          </a:p>
          <a:p>
            <a:pPr marL="811530" lvl="1" indent="-798830">
              <a:lnSpc>
                <a:spcPts val="1850"/>
              </a:lnSpc>
              <a:buSzPct val="141666"/>
              <a:buFont typeface="Times New Roman"/>
              <a:buAutoNum type="arabicPeriod" startAt="18"/>
              <a:tabLst>
                <a:tab pos="811530" algn="l"/>
              </a:tabLst>
            </a:pPr>
            <a:r>
              <a:rPr sz="1200" dirty="0">
                <a:latin typeface="Times New Roman"/>
                <a:cs typeface="Times New Roman"/>
              </a:rPr>
              <a:t>LIMIT</a:t>
            </a:r>
            <a:r>
              <a:rPr sz="1200" spc="-50" dirty="0">
                <a:latin typeface="Times New Roman"/>
                <a:cs typeface="Times New Roman"/>
              </a:rPr>
              <a:t> 1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ts val="1850"/>
              </a:lnSpc>
              <a:tabLst>
                <a:tab pos="659130" algn="l"/>
              </a:tabLst>
            </a:pPr>
            <a:r>
              <a:rPr sz="1700" b="1" spc="-20" dirty="0">
                <a:latin typeface="Times New Roman"/>
                <a:cs typeface="Times New Roman"/>
              </a:rPr>
              <a:t>3.30</a:t>
            </a:r>
            <a:r>
              <a:rPr sz="1700" b="1" dirty="0">
                <a:latin typeface="Times New Roman"/>
                <a:cs typeface="Times New Roman"/>
              </a:rPr>
              <a:t>	</a:t>
            </a:r>
            <a:r>
              <a:rPr sz="1200" spc="-50" dirty="0">
                <a:latin typeface="Times New Roman"/>
                <a:cs typeface="Times New Roman"/>
              </a:rPr>
              <a:t>)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ts val="1850"/>
              </a:lnSpc>
            </a:pPr>
            <a:r>
              <a:rPr sz="1700" b="1" dirty="0">
                <a:latin typeface="Times New Roman"/>
                <a:cs typeface="Times New Roman"/>
              </a:rPr>
              <a:t>3.31</a:t>
            </a:r>
            <a:r>
              <a:rPr sz="1700" b="1" spc="4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);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ts val="1850"/>
              </a:lnSpc>
            </a:pPr>
            <a:r>
              <a:rPr sz="1700" b="1" spc="-20" dirty="0">
                <a:latin typeface="Times New Roman"/>
                <a:cs typeface="Times New Roman"/>
              </a:rPr>
              <a:t>3.32</a:t>
            </a:r>
            <a:endParaRPr sz="1700" dirty="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</a:pPr>
            <a:r>
              <a:rPr sz="1700" b="1" dirty="0">
                <a:latin typeface="Times New Roman"/>
                <a:cs typeface="Times New Roman"/>
              </a:rPr>
              <a:t>3.33</a:t>
            </a:r>
            <a:r>
              <a:rPr sz="1700" b="1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4. SELECT </a:t>
            </a:r>
            <a:r>
              <a:rPr sz="1200" spc="-10" dirty="0">
                <a:latin typeface="Times New Roman"/>
                <a:cs typeface="Times New Roman"/>
              </a:rPr>
              <a:t>query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(First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query)</a:t>
            </a:r>
            <a:endParaRPr lang="en-US" sz="1200" spc="-10" dirty="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</a:pP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1767" y="9996931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38073"/>
            <a:ext cx="5763895" cy="86053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502920" lvl="1" indent="-490220">
              <a:lnSpc>
                <a:spcPts val="1945"/>
              </a:lnSpc>
              <a:spcBef>
                <a:spcPts val="100"/>
              </a:spcBef>
              <a:buSzPct val="141666"/>
              <a:buFont typeface="Times New Roman"/>
              <a:buAutoNum type="arabicPeriod" startAt="3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 find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punishments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given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matches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players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who received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them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3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m.Match_ID,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m.Date,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m.Stadium_Name,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p.Name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PlayerName,</a:t>
            </a:r>
            <a:endParaRPr sz="1200" dirty="0">
              <a:latin typeface="Times New Roman"/>
              <a:cs typeface="Times New Roman"/>
            </a:endParaRPr>
          </a:p>
          <a:p>
            <a:pPr marL="771525" lvl="1" indent="-758825">
              <a:lnSpc>
                <a:spcPts val="1850"/>
              </a:lnSpc>
              <a:buSzPct val="141666"/>
              <a:buFont typeface="Times New Roman"/>
              <a:buAutoNum type="arabicPeriod" startAt="34"/>
              <a:tabLst>
                <a:tab pos="771525" algn="l"/>
              </a:tabLst>
            </a:pPr>
            <a:r>
              <a:rPr sz="1200" dirty="0">
                <a:latin typeface="Times New Roman"/>
                <a:cs typeface="Times New Roman"/>
              </a:rPr>
              <a:t>pu.Name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PunishmentType,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pu.Player_Semester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3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`Match`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m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3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INNER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Match_Punishment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mp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m.Match_ID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mp.Match_ID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39"/>
              </a:lnSpc>
              <a:buSzPct val="141666"/>
              <a:buFont typeface="Times New Roman"/>
              <a:buAutoNum type="arabicPeriod" startAt="3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INNER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Punishment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pu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mp.Punishment_ID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pu.Punishment_ID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35"/>
              </a:lnSpc>
              <a:buSzPct val="141666"/>
              <a:buFont typeface="Times New Roman"/>
              <a:buAutoNum type="arabicPeriod" startAt="3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INNER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Player_Punishment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pp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pu.Punishment_ID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pp.Punishment_ID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3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INNER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Player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pp.Player_ID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p.Player_ID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3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ORDER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m.Date,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p.Name;</a:t>
            </a:r>
            <a:endParaRPr sz="1200" dirty="0">
              <a:latin typeface="Times New Roman"/>
              <a:cs typeface="Times New Roman"/>
            </a:endParaRPr>
          </a:p>
          <a:p>
            <a:pPr marL="12700">
              <a:lnSpc>
                <a:spcPts val="1850"/>
              </a:lnSpc>
            </a:pPr>
            <a:r>
              <a:rPr sz="1700" b="1" spc="-20" dirty="0">
                <a:latin typeface="Times New Roman"/>
                <a:cs typeface="Times New Roman"/>
              </a:rPr>
              <a:t>3.43</a:t>
            </a:r>
            <a:endParaRPr sz="17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4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query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(Second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query)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4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--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matches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scores,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teams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4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SELECT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t.Name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TeamName,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m.Match_ID,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m.Date,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m.Stadium_Name,</a:t>
            </a:r>
            <a:endParaRPr sz="1200" dirty="0">
              <a:latin typeface="Times New Roman"/>
              <a:cs typeface="Times New Roman"/>
            </a:endParaRPr>
          </a:p>
          <a:p>
            <a:pPr marL="771525" lvl="1" indent="-758825">
              <a:lnSpc>
                <a:spcPts val="1850"/>
              </a:lnSpc>
              <a:buSzPct val="141666"/>
              <a:buFont typeface="Times New Roman"/>
              <a:buAutoNum type="arabicPeriod" startAt="44"/>
              <a:tabLst>
                <a:tab pos="771525" algn="l"/>
              </a:tabLst>
            </a:pPr>
            <a:r>
              <a:rPr sz="1200" dirty="0">
                <a:latin typeface="Times New Roman"/>
                <a:cs typeface="Times New Roman"/>
              </a:rPr>
              <a:t>SUM(s.Number)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TotalScore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4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t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4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LEFT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Team_Match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t.Team_ID</a:t>
            </a:r>
            <a:r>
              <a:rPr sz="1200" dirty="0">
                <a:latin typeface="Times New Roman"/>
                <a:cs typeface="Times New Roman"/>
              </a:rPr>
              <a:t> =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tm.Team_ID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4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LEFT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`Match`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tm.Match_ID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m.Match_ID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4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LEFT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JOIN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Score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(m.Match_ID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s.Match_ID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t.Team_ID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s.Team_ID)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850"/>
              </a:lnSpc>
              <a:buSzPct val="141666"/>
              <a:buFont typeface="Times New Roman"/>
              <a:buAutoNum type="arabicPeriod" startAt="4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GROUP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t.Name,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m.Match_ID,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m.Date,</a:t>
            </a:r>
            <a:r>
              <a:rPr sz="1200" spc="-10" dirty="0">
                <a:latin typeface="Times New Roman"/>
                <a:cs typeface="Times New Roman"/>
              </a:rPr>
              <a:t> m.Stadium_Name</a:t>
            </a:r>
            <a:endParaRPr sz="1200" dirty="0">
              <a:latin typeface="Times New Roman"/>
              <a:cs typeface="Times New Roman"/>
            </a:endParaRPr>
          </a:p>
          <a:p>
            <a:pPr marL="502920" lvl="1" indent="-490220">
              <a:lnSpc>
                <a:spcPts val="1945"/>
              </a:lnSpc>
              <a:buSzPct val="141666"/>
              <a:buFont typeface="Times New Roman"/>
              <a:buAutoNum type="arabicPeriod" startAt="44"/>
              <a:tabLst>
                <a:tab pos="502920" algn="l"/>
              </a:tabLst>
            </a:pPr>
            <a:r>
              <a:rPr sz="1200" dirty="0">
                <a:latin typeface="Times New Roman"/>
                <a:cs typeface="Times New Roman"/>
              </a:rPr>
              <a:t>ORDER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m.Date,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t.Name;Implementation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Challenges</a:t>
            </a:r>
            <a:endParaRPr sz="1200" dirty="0">
              <a:latin typeface="Times New Roman"/>
              <a:cs typeface="Times New Roman"/>
            </a:endParaRPr>
          </a:p>
          <a:p>
            <a:pPr marL="557530" lvl="2" indent="-544830" algn="just">
              <a:lnSpc>
                <a:spcPct val="100000"/>
              </a:lnSpc>
              <a:spcBef>
                <a:spcPts val="1190"/>
              </a:spcBef>
              <a:buAutoNum type="arabicPeriod"/>
              <a:tabLst>
                <a:tab pos="557530" algn="l"/>
              </a:tabLst>
            </a:pPr>
            <a:r>
              <a:rPr sz="1400" b="1" dirty="0">
                <a:latin typeface="Times New Roman"/>
                <a:cs typeface="Times New Roman"/>
              </a:rPr>
              <a:t>Challenge</a:t>
            </a:r>
            <a:r>
              <a:rPr sz="1400" b="1" spc="7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1:</a:t>
            </a:r>
            <a:r>
              <a:rPr sz="1400" b="1" spc="16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Complex</a:t>
            </a:r>
            <a:r>
              <a:rPr sz="1400" b="1" spc="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Relationship</a:t>
            </a:r>
            <a:r>
              <a:rPr sz="1400" b="1" spc="6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Management</a:t>
            </a:r>
            <a:endParaRPr sz="1400" dirty="0">
              <a:latin typeface="Times New Roman"/>
              <a:cs typeface="Times New Roman"/>
            </a:endParaRPr>
          </a:p>
          <a:p>
            <a:pPr marL="12700" marR="8255" algn="just">
              <a:lnSpc>
                <a:spcPct val="100899"/>
              </a:lnSpc>
              <a:spcBef>
                <a:spcPts val="74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many-</a:t>
            </a:r>
            <a:r>
              <a:rPr sz="1200" dirty="0">
                <a:latin typeface="Times New Roman"/>
                <a:cs typeface="Times New Roman"/>
              </a:rPr>
              <a:t>to-many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relationships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matches,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teams,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players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required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careful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lang="en-US" sz="1200" spc="-10" dirty="0">
                <a:latin typeface="Times New Roman"/>
                <a:cs typeface="Times New Roman"/>
              </a:rPr>
              <a:t>junction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table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design.</a:t>
            </a:r>
            <a:r>
              <a:rPr sz="1200" spc="2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initially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struggled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maintaining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referential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integrity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deleting records.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557530" lvl="2" indent="-544830" algn="just">
              <a:lnSpc>
                <a:spcPct val="100000"/>
              </a:lnSpc>
              <a:buAutoNum type="arabicPeriod" startAt="2"/>
              <a:tabLst>
                <a:tab pos="55753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Solution:</a:t>
            </a:r>
            <a:endParaRPr sz="14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755"/>
              </a:spcBef>
            </a:pPr>
            <a:r>
              <a:rPr sz="1200" spc="-10" dirty="0">
                <a:latin typeface="Times New Roman"/>
                <a:cs typeface="Times New Roman"/>
              </a:rPr>
              <a:t>Implemented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cascading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updates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restricted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cascading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deletes, instead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application-</a:t>
            </a:r>
            <a:r>
              <a:rPr sz="1200" spc="-10" dirty="0">
                <a:latin typeface="Times New Roman"/>
                <a:cs typeface="Times New Roman"/>
              </a:rPr>
              <a:t>level </a:t>
            </a:r>
            <a:r>
              <a:rPr sz="1200" dirty="0">
                <a:latin typeface="Times New Roman"/>
                <a:cs typeface="Times New Roman"/>
              </a:rPr>
              <a:t>checks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deletion.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557530" lvl="2" indent="-544830" algn="just">
              <a:lnSpc>
                <a:spcPct val="100000"/>
              </a:lnSpc>
              <a:buAutoNum type="arabicPeriod" startAt="3"/>
              <a:tabLst>
                <a:tab pos="557530" algn="l"/>
              </a:tabLst>
            </a:pPr>
            <a:r>
              <a:rPr sz="1400" b="1" dirty="0">
                <a:latin typeface="Times New Roman"/>
                <a:cs typeface="Times New Roman"/>
              </a:rPr>
              <a:t>Challenge</a:t>
            </a:r>
            <a:r>
              <a:rPr sz="1400" b="1" spc="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2:</a:t>
            </a:r>
            <a:r>
              <a:rPr sz="1400" b="1" spc="10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Performance</a:t>
            </a:r>
            <a:r>
              <a:rPr sz="1400" b="1" spc="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Optimization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200" spc="-10" dirty="0">
                <a:latin typeface="Times New Roman"/>
                <a:cs typeface="Times New Roman"/>
              </a:rPr>
              <a:t>Complex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involving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multiple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joins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initially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performance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large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557530" lvl="2" indent="-544830" algn="just">
              <a:lnSpc>
                <a:spcPct val="100000"/>
              </a:lnSpc>
              <a:buAutoNum type="arabicPeriod" startAt="4"/>
              <a:tabLst>
                <a:tab pos="55753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Solution: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200" dirty="0">
                <a:latin typeface="Times New Roman"/>
                <a:cs typeface="Times New Roman"/>
              </a:rPr>
              <a:t>Created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strategic indexes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frequently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joined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columns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optimized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structure.</a:t>
            </a:r>
            <a:endParaRPr lang="en-US" sz="12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1767" y="9996931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743582"/>
            <a:ext cx="1502410" cy="10299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dirty="0">
                <a:latin typeface="Times New Roman"/>
                <a:cs typeface="Times New Roman"/>
              </a:rPr>
              <a:t>Chapter</a:t>
            </a:r>
            <a:r>
              <a:rPr sz="2450" b="1" spc="-55" dirty="0">
                <a:latin typeface="Times New Roman"/>
                <a:cs typeface="Times New Roman"/>
              </a:rPr>
              <a:t> </a:t>
            </a:r>
            <a:r>
              <a:rPr sz="2450" b="1" spc="-50" dirty="0">
                <a:latin typeface="Times New Roman"/>
                <a:cs typeface="Times New Roman"/>
              </a:rPr>
              <a:t>4</a:t>
            </a:r>
            <a:endParaRPr sz="2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30"/>
              </a:spcBef>
            </a:pPr>
            <a:r>
              <a:rPr sz="2450" b="1" spc="-10" dirty="0">
                <a:latin typeface="Times New Roman"/>
                <a:cs typeface="Times New Roman"/>
              </a:rPr>
              <a:t>Conclusion</a:t>
            </a:r>
            <a:endParaRPr sz="24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3219068"/>
            <a:ext cx="5755640" cy="274510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The League Pro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 Management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meets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specified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requirements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demonstrating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proper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database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principles.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Through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we’ve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gained practical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experience </a:t>
            </a:r>
            <a:r>
              <a:rPr sz="1200" spc="-25" dirty="0">
                <a:latin typeface="Times New Roman"/>
                <a:cs typeface="Times New Roman"/>
              </a:rPr>
              <a:t>in:</a:t>
            </a:r>
            <a:endParaRPr sz="1200" dirty="0">
              <a:latin typeface="Times New Roman"/>
              <a:cs typeface="Times New Roman"/>
            </a:endParaRPr>
          </a:p>
          <a:p>
            <a:pPr marL="381000" indent="-124460">
              <a:lnSpc>
                <a:spcPct val="100000"/>
              </a:lnSpc>
              <a:spcBef>
                <a:spcPts val="1010"/>
              </a:spcBef>
              <a:buChar char="•"/>
              <a:tabLst>
                <a:tab pos="381000" algn="l"/>
              </a:tabLst>
            </a:pPr>
            <a:r>
              <a:rPr sz="1200" spc="-25" dirty="0">
                <a:latin typeface="Times New Roman"/>
                <a:cs typeface="Times New Roman"/>
              </a:rPr>
              <a:t>Entity-</a:t>
            </a:r>
            <a:r>
              <a:rPr sz="1200" spc="-10" dirty="0">
                <a:latin typeface="Times New Roman"/>
                <a:cs typeface="Times New Roman"/>
              </a:rPr>
              <a:t>Relationship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modeling</a:t>
            </a:r>
            <a:endParaRPr sz="1200" dirty="0">
              <a:latin typeface="Times New Roman"/>
              <a:cs typeface="Times New Roman"/>
            </a:endParaRPr>
          </a:p>
          <a:p>
            <a:pPr marL="381000" indent="-124460">
              <a:lnSpc>
                <a:spcPct val="100000"/>
              </a:lnSpc>
              <a:spcBef>
                <a:spcPts val="1010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Relational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schema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creation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optimization</a:t>
            </a:r>
            <a:endParaRPr sz="1200" dirty="0">
              <a:latin typeface="Times New Roman"/>
              <a:cs typeface="Times New Roman"/>
            </a:endParaRPr>
          </a:p>
          <a:p>
            <a:pPr marL="381000" indent="-124460">
              <a:lnSpc>
                <a:spcPct val="100000"/>
              </a:lnSpc>
              <a:spcBef>
                <a:spcPts val="980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Complex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SQL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query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formulation</a:t>
            </a:r>
            <a:endParaRPr sz="1200" dirty="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1010"/>
              </a:spcBef>
            </a:pPr>
            <a:r>
              <a:rPr sz="1200" spc="-10" dirty="0">
                <a:latin typeface="Times New Roman"/>
                <a:cs typeface="Times New Roman"/>
              </a:rPr>
              <a:t>This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foundation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future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enhancements</a:t>
            </a:r>
            <a:r>
              <a:rPr lang="en-US" sz="1200" spc="-10" dirty="0">
                <a:latin typeface="Times New Roman"/>
                <a:cs typeface="Times New Roman"/>
              </a:rPr>
              <a:t>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including:</a:t>
            </a:r>
            <a:endParaRPr sz="1200" dirty="0">
              <a:latin typeface="Times New Roman"/>
              <a:cs typeface="Times New Roman"/>
            </a:endParaRPr>
          </a:p>
          <a:p>
            <a:pPr marL="381000" indent="-124460">
              <a:lnSpc>
                <a:spcPct val="100000"/>
              </a:lnSpc>
              <a:spcBef>
                <a:spcPts val="1010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Fan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engagement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modules</a:t>
            </a:r>
            <a:endParaRPr sz="1200" dirty="0">
              <a:latin typeface="Times New Roman"/>
              <a:cs typeface="Times New Roman"/>
            </a:endParaRPr>
          </a:p>
          <a:p>
            <a:pPr marL="381000" indent="-124460">
              <a:lnSpc>
                <a:spcPct val="100000"/>
              </a:lnSpc>
              <a:spcBef>
                <a:spcPts val="1010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Advanced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analytics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dashboards</a:t>
            </a:r>
            <a:endParaRPr sz="1200" dirty="0">
              <a:latin typeface="Times New Roman"/>
              <a:cs typeface="Times New Roman"/>
            </a:endParaRPr>
          </a:p>
          <a:p>
            <a:pPr marL="381000" indent="-124460">
              <a:lnSpc>
                <a:spcPct val="100000"/>
              </a:lnSpc>
              <a:spcBef>
                <a:spcPts val="985"/>
              </a:spcBef>
              <a:buChar char="•"/>
              <a:tabLst>
                <a:tab pos="381000" algn="l"/>
              </a:tabLst>
            </a:pPr>
            <a:r>
              <a:rPr sz="1200" spc="-10" dirty="0">
                <a:latin typeface="Times New Roman"/>
                <a:cs typeface="Times New Roman"/>
              </a:rPr>
              <a:t>Mobile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integration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250" y="1386966"/>
            <a:ext cx="6781800" cy="7553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0" tIns="368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Bibliography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34815" y="10152379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0B0D83-4F0C-2752-A05C-65BCB07B61A2}"/>
              </a:ext>
            </a:extLst>
          </p:cNvPr>
          <p:cNvSpPr txBox="1"/>
          <p:nvPr/>
        </p:nvSpPr>
        <p:spPr>
          <a:xfrm>
            <a:off x="349250" y="2679700"/>
            <a:ext cx="6934200" cy="389003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60350" marR="74930" indent="-248285">
              <a:lnSpc>
                <a:spcPts val="1420"/>
              </a:lnSpc>
              <a:spcBef>
                <a:spcPts val="160"/>
              </a:spcBef>
              <a:buAutoNum type="arabicPlain"/>
              <a:tabLst>
                <a:tab pos="262890" algn="l"/>
              </a:tabLst>
            </a:pPr>
            <a:r>
              <a:rPr lang="en-US" sz="1800" spc="-10" dirty="0">
                <a:latin typeface="Times New Roman"/>
                <a:cs typeface="Times New Roman"/>
              </a:rPr>
              <a:t>Shahjalal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University</a:t>
            </a:r>
            <a:r>
              <a:rPr lang="en-US" sz="1800" spc="-5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of</a:t>
            </a:r>
            <a:r>
              <a:rPr lang="en-US" sz="1800" spc="-4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Science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and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Technology. (2023).</a:t>
            </a:r>
            <a:r>
              <a:rPr lang="en-US" sz="1800" spc="20" dirty="0">
                <a:latin typeface="Times New Roman"/>
                <a:cs typeface="Times New Roman"/>
              </a:rPr>
              <a:t> </a:t>
            </a:r>
            <a:r>
              <a:rPr lang="en-US" sz="1800" i="1" dirty="0">
                <a:latin typeface="Times New Roman"/>
                <a:cs typeface="Times New Roman"/>
              </a:rPr>
              <a:t>Academic</a:t>
            </a:r>
            <a:r>
              <a:rPr lang="en-US" sz="1800" i="1" spc="-10" dirty="0">
                <a:latin typeface="Times New Roman"/>
                <a:cs typeface="Times New Roman"/>
              </a:rPr>
              <a:t> </a:t>
            </a:r>
            <a:r>
              <a:rPr lang="en-US" sz="1800" i="1" dirty="0">
                <a:latin typeface="Times New Roman"/>
                <a:cs typeface="Times New Roman"/>
              </a:rPr>
              <a:t>Regulations</a:t>
            </a:r>
            <a:r>
              <a:rPr lang="en-US" sz="1800" dirty="0">
                <a:latin typeface="Times New Roman"/>
                <a:cs typeface="Times New Roman"/>
              </a:rPr>
              <a:t>.</a:t>
            </a:r>
            <a:r>
              <a:rPr lang="en-US" sz="1800" spc="-2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Sylhet: 	</a:t>
            </a:r>
            <a:r>
              <a:rPr lang="en-US" sz="1800" dirty="0">
                <a:latin typeface="Times New Roman"/>
                <a:cs typeface="Times New Roman"/>
              </a:rPr>
              <a:t>SUST</a:t>
            </a:r>
            <a:r>
              <a:rPr lang="en-US" sz="1800" spc="2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Press.</a:t>
            </a:r>
            <a:endParaRPr lang="en-US" sz="1800" dirty="0">
              <a:latin typeface="Times New Roman"/>
              <a:cs typeface="Times New Roman"/>
            </a:endParaRPr>
          </a:p>
          <a:p>
            <a:pPr marL="260350" marR="5080" indent="-248285">
              <a:lnSpc>
                <a:spcPct val="100000"/>
              </a:lnSpc>
              <a:spcBef>
                <a:spcPts val="965"/>
              </a:spcBef>
              <a:buAutoNum type="arabicPlain"/>
              <a:tabLst>
                <a:tab pos="262890" algn="l"/>
              </a:tabLst>
            </a:pPr>
            <a:r>
              <a:rPr lang="en-US" sz="1800" spc="-10" dirty="0">
                <a:latin typeface="Times New Roman"/>
                <a:cs typeface="Times New Roman"/>
              </a:rPr>
              <a:t>Elmasri,</a:t>
            </a:r>
            <a:r>
              <a:rPr lang="en-US" sz="1800" dirty="0">
                <a:latin typeface="Times New Roman"/>
                <a:cs typeface="Times New Roman"/>
              </a:rPr>
              <a:t> R., &amp;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Navathe, S. B.</a:t>
            </a:r>
            <a:r>
              <a:rPr lang="en-US" sz="1800" spc="-2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(2015).</a:t>
            </a:r>
            <a:r>
              <a:rPr lang="en-US" sz="1800" spc="30" dirty="0">
                <a:latin typeface="Times New Roman"/>
                <a:cs typeface="Times New Roman"/>
              </a:rPr>
              <a:t> </a:t>
            </a:r>
            <a:r>
              <a:rPr lang="en-US" sz="1800" i="1" spc="-10" dirty="0">
                <a:latin typeface="Times New Roman"/>
                <a:cs typeface="Times New Roman"/>
              </a:rPr>
              <a:t>Fundamentals</a:t>
            </a:r>
            <a:r>
              <a:rPr lang="en-US" sz="1800" i="1" spc="-20" dirty="0">
                <a:latin typeface="Times New Roman"/>
                <a:cs typeface="Times New Roman"/>
              </a:rPr>
              <a:t> </a:t>
            </a:r>
            <a:r>
              <a:rPr lang="en-US" sz="1800" i="1" dirty="0">
                <a:latin typeface="Times New Roman"/>
                <a:cs typeface="Times New Roman"/>
              </a:rPr>
              <a:t>of</a:t>
            </a:r>
            <a:r>
              <a:rPr lang="en-US" sz="1800" i="1" spc="-10" dirty="0">
                <a:latin typeface="Times New Roman"/>
                <a:cs typeface="Times New Roman"/>
              </a:rPr>
              <a:t> </a:t>
            </a:r>
            <a:r>
              <a:rPr lang="en-US" sz="1800" i="1" dirty="0">
                <a:latin typeface="Times New Roman"/>
                <a:cs typeface="Times New Roman"/>
              </a:rPr>
              <a:t>Database</a:t>
            </a:r>
            <a:r>
              <a:rPr lang="en-US" sz="1800" i="1" spc="-10" dirty="0">
                <a:latin typeface="Times New Roman"/>
                <a:cs typeface="Times New Roman"/>
              </a:rPr>
              <a:t> </a:t>
            </a:r>
            <a:r>
              <a:rPr lang="en-US" sz="1800" i="1" dirty="0">
                <a:latin typeface="Times New Roman"/>
                <a:cs typeface="Times New Roman"/>
              </a:rPr>
              <a:t>Systems</a:t>
            </a:r>
            <a:r>
              <a:rPr lang="en-US" sz="1800" i="1" spc="-1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(7th</a:t>
            </a:r>
            <a:r>
              <a:rPr lang="en-US" sz="1800" spc="-3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ed.).</a:t>
            </a:r>
            <a:r>
              <a:rPr lang="en-US" sz="1800" spc="-2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Pearson</a:t>
            </a:r>
            <a:r>
              <a:rPr lang="en-US" sz="1800" spc="-20" dirty="0">
                <a:latin typeface="Times New Roman"/>
                <a:cs typeface="Times New Roman"/>
              </a:rPr>
              <a:t>.</a:t>
            </a:r>
            <a:endParaRPr lang="en-US" sz="1800" dirty="0">
              <a:latin typeface="Times New Roman"/>
              <a:cs typeface="Times New Roman"/>
            </a:endParaRPr>
          </a:p>
          <a:p>
            <a:pPr marL="260985" indent="-248285">
              <a:lnSpc>
                <a:spcPct val="100000"/>
              </a:lnSpc>
              <a:spcBef>
                <a:spcPts val="1010"/>
              </a:spcBef>
              <a:buAutoNum type="arabicPlain"/>
              <a:tabLst>
                <a:tab pos="260985" algn="l"/>
              </a:tabLst>
            </a:pPr>
            <a:r>
              <a:rPr lang="en-US" sz="1800" spc="-10" dirty="0">
                <a:latin typeface="Times New Roman"/>
                <a:cs typeface="Times New Roman"/>
              </a:rPr>
              <a:t>Beaulieu,</a:t>
            </a:r>
            <a:r>
              <a:rPr lang="en-US" sz="1800" spc="-5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A.</a:t>
            </a:r>
            <a:r>
              <a:rPr lang="en-US" sz="1800" spc="-1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(2020).</a:t>
            </a:r>
            <a:r>
              <a:rPr lang="en-US" sz="1800" spc="-40" dirty="0">
                <a:latin typeface="Times New Roman"/>
                <a:cs typeface="Times New Roman"/>
              </a:rPr>
              <a:t> </a:t>
            </a:r>
            <a:r>
              <a:rPr lang="en-US" sz="1800" i="1" dirty="0">
                <a:latin typeface="Times New Roman"/>
                <a:cs typeface="Times New Roman"/>
              </a:rPr>
              <a:t>Learning</a:t>
            </a:r>
            <a:r>
              <a:rPr lang="en-US" sz="1800" i="1" spc="-30" dirty="0">
                <a:latin typeface="Times New Roman"/>
                <a:cs typeface="Times New Roman"/>
              </a:rPr>
              <a:t> </a:t>
            </a:r>
            <a:r>
              <a:rPr lang="en-US" sz="1800" i="1" dirty="0">
                <a:latin typeface="Times New Roman"/>
                <a:cs typeface="Times New Roman"/>
              </a:rPr>
              <a:t>SQL</a:t>
            </a:r>
            <a:r>
              <a:rPr lang="en-US" sz="1800" i="1" spc="-5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(3rd</a:t>
            </a:r>
            <a:r>
              <a:rPr lang="en-US" sz="1800" spc="-5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ed.).</a:t>
            </a:r>
            <a:r>
              <a:rPr lang="en-US" sz="1800" spc="-40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O’Reilly</a:t>
            </a:r>
            <a:r>
              <a:rPr lang="en-US" sz="1800" spc="-65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Media</a:t>
            </a:r>
          </a:p>
          <a:p>
            <a:pPr marR="728980" lvl="0">
              <a:lnSpc>
                <a:spcPct val="98000"/>
              </a:lnSpc>
              <a:spcBef>
                <a:spcPts val="1120"/>
              </a:spcBef>
              <a:buSzPts val="1200"/>
              <a:tabLst>
                <a:tab pos="500380" algn="l"/>
                <a:tab pos="501650" algn="l"/>
              </a:tabLst>
            </a:pP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4. Elmasri, R., Navathe, S.B. (2015).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i="1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Fundamentals of Database Systems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7th Edition.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Pearson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Education.</a:t>
            </a:r>
            <a:endParaRPr lang="en-US" sz="1800" spc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spcBef>
                <a:spcPts val="375"/>
              </a:spcBef>
              <a:buSzPts val="1200"/>
              <a:tabLst>
                <a:tab pos="501015" algn="l"/>
              </a:tabLst>
            </a:pP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5. MySQL</a:t>
            </a:r>
            <a:r>
              <a:rPr lang="en-US" sz="1800" spc="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8.0</a:t>
            </a:r>
            <a:r>
              <a:rPr lang="en-US" sz="1800" spc="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Reference</a:t>
            </a:r>
            <a:r>
              <a:rPr lang="en-US" sz="1800" spc="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Manual</a:t>
            </a:r>
            <a:r>
              <a:rPr lang="en-US" sz="1800" spc="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(2023).</a:t>
            </a:r>
            <a:r>
              <a:rPr lang="en-US" sz="1800" spc="17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Oracle</a:t>
            </a:r>
            <a:r>
              <a:rPr lang="en-US" sz="1800" spc="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Corporation.</a:t>
            </a:r>
            <a:endParaRPr lang="en-US" sz="1800" spc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spcBef>
                <a:spcPts val="380"/>
              </a:spcBef>
              <a:buSzPts val="1200"/>
              <a:tabLst>
                <a:tab pos="501015" algn="l"/>
              </a:tabLst>
            </a:pP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6. Beaulieu,</a:t>
            </a:r>
            <a:r>
              <a:rPr lang="en-US" sz="1800" spc="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A.</a:t>
            </a:r>
            <a:r>
              <a:rPr lang="en-US" sz="1800" spc="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(2020).</a:t>
            </a:r>
            <a:r>
              <a:rPr lang="en-US" sz="1800" spc="1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i="1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Learning</a:t>
            </a:r>
            <a:r>
              <a:rPr lang="en-US" sz="1800" i="1" spc="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i="1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SQL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r>
              <a:rPr lang="en-US" sz="1800" spc="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3rd</a:t>
            </a:r>
            <a:r>
              <a:rPr lang="en-US" sz="1800" spc="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Edition.</a:t>
            </a:r>
            <a:r>
              <a:rPr lang="en-US" sz="1800" spc="1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O’Reilly</a:t>
            </a:r>
            <a:r>
              <a:rPr lang="en-US" sz="1800" spc="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Media.</a:t>
            </a:r>
            <a:endParaRPr lang="en-US" sz="1800" spc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0" lvl="0">
              <a:spcBef>
                <a:spcPts val="375"/>
              </a:spcBef>
              <a:buSzPts val="1200"/>
              <a:tabLst>
                <a:tab pos="501015" algn="l"/>
              </a:tabLst>
            </a:pP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7.Garcia-Molina,</a:t>
            </a:r>
            <a:r>
              <a:rPr lang="en-US" sz="1800" spc="7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H.</a:t>
            </a:r>
            <a:r>
              <a:rPr lang="en-US" sz="1800" spc="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(2008).</a:t>
            </a:r>
            <a:r>
              <a:rPr lang="en-US" sz="1800" spc="17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i="1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Database</a:t>
            </a:r>
            <a:r>
              <a:rPr lang="en-US" sz="1800" i="1" spc="9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i="1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Systems:</a:t>
            </a:r>
            <a:r>
              <a:rPr lang="en-US" sz="1800" i="1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i="1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</a:t>
            </a:r>
            <a:r>
              <a:rPr lang="en-US" sz="1800" i="1" spc="9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i="1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Complete</a:t>
            </a:r>
            <a:r>
              <a:rPr lang="en-US" sz="1800" i="1" spc="9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i="1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Book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r>
              <a:rPr lang="en-US" sz="1800" spc="1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2nd</a:t>
            </a:r>
            <a:r>
              <a:rPr lang="en-US" sz="1800" spc="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Edition.</a:t>
            </a:r>
            <a:r>
              <a:rPr lang="en-US" sz="1800" spc="18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Pearson.</a:t>
            </a:r>
            <a:endParaRPr lang="en-US" sz="1800" spc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60985" indent="-248285">
              <a:lnSpc>
                <a:spcPct val="100000"/>
              </a:lnSpc>
              <a:spcBef>
                <a:spcPts val="1010"/>
              </a:spcBef>
              <a:buAutoNum type="arabicPlain"/>
              <a:tabLst>
                <a:tab pos="260985" algn="l"/>
              </a:tabLst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3365372"/>
            <a:ext cx="5512435" cy="684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and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use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the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database</a:t>
            </a:r>
            <a:endParaRPr sz="1200" dirty="0">
              <a:latin typeface="Courier New"/>
              <a:cs typeface="Courier New"/>
            </a:endParaRPr>
          </a:p>
          <a:p>
            <a:pPr marL="12700" marR="1285240">
              <a:lnSpc>
                <a:spcPts val="2450"/>
              </a:lnSpc>
              <a:spcBef>
                <a:spcPts val="225"/>
              </a:spcBef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DATABASE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EXISTS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football_league; </a:t>
            </a:r>
            <a:r>
              <a:rPr sz="1200" dirty="0">
                <a:latin typeface="Courier New"/>
                <a:cs typeface="Courier New"/>
              </a:rPr>
              <a:t>USE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football_league;</a:t>
            </a:r>
            <a:endParaRPr sz="1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Department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table</a:t>
            </a:r>
            <a:endParaRPr sz="1200" dirty="0">
              <a:latin typeface="Courier New"/>
              <a:cs typeface="Courier New"/>
            </a:endParaRPr>
          </a:p>
          <a:p>
            <a:pPr marL="378460" marR="1925320" indent="-366395">
              <a:lnSpc>
                <a:spcPct val="170000"/>
              </a:lnSpc>
              <a:spcBef>
                <a:spcPts val="5"/>
              </a:spcBef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EXISTS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Department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50" dirty="0">
                <a:latin typeface="Courier New"/>
                <a:cs typeface="Courier New"/>
              </a:rPr>
              <a:t>( </a:t>
            </a:r>
            <a:r>
              <a:rPr sz="1200" dirty="0">
                <a:latin typeface="Courier New"/>
                <a:cs typeface="Courier New"/>
              </a:rPr>
              <a:t>Dept_Code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VARCHAR(10)</a:t>
            </a:r>
            <a:r>
              <a:rPr sz="1200" spc="-11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PRIMARY</a:t>
            </a:r>
            <a:r>
              <a:rPr sz="1200" spc="-110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KEY,</a:t>
            </a:r>
            <a:endParaRPr sz="1200" dirty="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985"/>
              </a:spcBef>
            </a:pPr>
            <a:r>
              <a:rPr sz="1200" spc="-10" dirty="0">
                <a:latin typeface="Courier New"/>
                <a:cs typeface="Courier New"/>
              </a:rPr>
              <a:t>Dept_short_name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VARCHAR(50)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NULL,</a:t>
            </a:r>
            <a:endParaRPr sz="1200" dirty="0">
              <a:latin typeface="Courier New"/>
              <a:cs typeface="Courier New"/>
            </a:endParaRPr>
          </a:p>
          <a:p>
            <a:pPr marL="378460" marR="3022600">
              <a:lnSpc>
                <a:spcPct val="169200"/>
              </a:lnSpc>
              <a:spcBef>
                <a:spcPts val="10"/>
              </a:spcBef>
            </a:pPr>
            <a:r>
              <a:rPr sz="1200" dirty="0">
                <a:latin typeface="Courier New"/>
                <a:cs typeface="Courier New"/>
              </a:rPr>
              <a:t>Dept_Head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VARCHAR(100), Established_Year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INT, </a:t>
            </a:r>
            <a:r>
              <a:rPr sz="1200" dirty="0">
                <a:latin typeface="Courier New"/>
                <a:cs typeface="Courier New"/>
              </a:rPr>
              <a:t>Budget</a:t>
            </a:r>
            <a:r>
              <a:rPr sz="1200" spc="-10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DECIMAL(12,</a:t>
            </a:r>
            <a:r>
              <a:rPr sz="1200" spc="-105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2)</a:t>
            </a:r>
            <a:endParaRPr sz="1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200" spc="-25" dirty="0">
                <a:latin typeface="Courier New"/>
                <a:cs typeface="Courier New"/>
              </a:rPr>
              <a:t>);</a:t>
            </a:r>
            <a:endParaRPr sz="1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Team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table</a:t>
            </a:r>
            <a:endParaRPr sz="1200" dirty="0">
              <a:latin typeface="Courier New"/>
              <a:cs typeface="Courier New"/>
            </a:endParaRPr>
          </a:p>
          <a:p>
            <a:pPr marL="378460" marR="2199640" indent="-366395">
              <a:lnSpc>
                <a:spcPct val="168500"/>
              </a:lnSpc>
              <a:spcBef>
                <a:spcPts val="20"/>
              </a:spcBef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EXISTS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Team</a:t>
            </a:r>
            <a:r>
              <a:rPr sz="1200" spc="-50" dirty="0">
                <a:latin typeface="Courier New"/>
                <a:cs typeface="Courier New"/>
              </a:rPr>
              <a:t> ( </a:t>
            </a:r>
            <a:r>
              <a:rPr sz="1200" dirty="0">
                <a:latin typeface="Courier New"/>
                <a:cs typeface="Courier New"/>
              </a:rPr>
              <a:t>Team_ID</a:t>
            </a:r>
            <a:r>
              <a:rPr sz="1200" spc="-10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VARCHAR(10)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PRIMARY</a:t>
            </a:r>
            <a:r>
              <a:rPr sz="1200" spc="-10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KEY,</a:t>
            </a:r>
            <a:endParaRPr sz="1200" dirty="0">
              <a:latin typeface="Courier New"/>
              <a:cs typeface="Courier New"/>
            </a:endParaRPr>
          </a:p>
          <a:p>
            <a:pPr marL="378460" marR="3114040">
              <a:lnSpc>
                <a:spcPct val="170000"/>
              </a:lnSpc>
            </a:pPr>
            <a:r>
              <a:rPr sz="1200" dirty="0">
                <a:latin typeface="Courier New"/>
                <a:cs typeface="Courier New"/>
              </a:rPr>
              <a:t>Dept_code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 </a:t>
            </a:r>
            <a:r>
              <a:rPr sz="1200" dirty="0">
                <a:latin typeface="Courier New"/>
                <a:cs typeface="Courier New"/>
              </a:rPr>
              <a:t>Manager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VARCHAR(100),</a:t>
            </a:r>
            <a:endParaRPr sz="1200" dirty="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latin typeface="Courier New"/>
                <a:cs typeface="Courier New"/>
              </a:rPr>
              <a:t>Name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VARCHAR(100)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NULL,</a:t>
            </a:r>
            <a:endParaRPr sz="1200" dirty="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005"/>
              </a:spcBef>
            </a:pPr>
            <a:r>
              <a:rPr sz="1200" dirty="0">
                <a:latin typeface="Courier New"/>
                <a:cs typeface="Courier New"/>
              </a:rPr>
              <a:t>Player_Reg_ID</a:t>
            </a:r>
            <a:r>
              <a:rPr sz="1200" spc="-16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VARCHAR(20),</a:t>
            </a:r>
            <a:endParaRPr sz="1200" dirty="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010"/>
              </a:spcBef>
            </a:pP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(Dept_code)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Department(Dept_Code)</a:t>
            </a:r>
            <a:endParaRPr sz="1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200" dirty="0">
              <a:latin typeface="Courier New"/>
              <a:cs typeface="Courier New"/>
            </a:endParaRPr>
          </a:p>
          <a:p>
            <a:pPr marL="279400" algn="ctr">
              <a:lnSpc>
                <a:spcPct val="100000"/>
              </a:lnSpc>
            </a:pPr>
            <a:r>
              <a:rPr sz="1200" spc="-50" dirty="0">
                <a:latin typeface="Times New Roman"/>
                <a:cs typeface="Times New Roman"/>
              </a:rPr>
              <a:t>8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1743582"/>
            <a:ext cx="4922520" cy="10331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dirty="0">
                <a:latin typeface="Times New Roman"/>
                <a:cs typeface="Times New Roman"/>
              </a:rPr>
              <a:t>Appendix</a:t>
            </a:r>
            <a:r>
              <a:rPr sz="2450" b="1" spc="5" dirty="0">
                <a:latin typeface="Times New Roman"/>
                <a:cs typeface="Times New Roman"/>
              </a:rPr>
              <a:t> </a:t>
            </a:r>
            <a:r>
              <a:rPr sz="2450" b="1" spc="-50" dirty="0">
                <a:latin typeface="Times New Roman"/>
                <a:cs typeface="Times New Roman"/>
              </a:rPr>
              <a:t>A</a:t>
            </a: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sz="2450" b="1" dirty="0">
                <a:latin typeface="Times New Roman"/>
                <a:cs typeface="Times New Roman"/>
              </a:rPr>
              <a:t>Appendix</a:t>
            </a:r>
            <a:r>
              <a:rPr sz="2450" b="1" spc="-5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A:</a:t>
            </a:r>
            <a:r>
              <a:rPr sz="2450" b="1" spc="4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Complete</a:t>
            </a:r>
            <a:r>
              <a:rPr sz="2450" b="1" spc="3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SQL</a:t>
            </a:r>
            <a:r>
              <a:rPr sz="2450" b="1" spc="10" dirty="0">
                <a:latin typeface="Times New Roman"/>
                <a:cs typeface="Times New Roman"/>
              </a:rPr>
              <a:t> </a:t>
            </a:r>
            <a:r>
              <a:rPr sz="2450" b="1" spc="-10" dirty="0">
                <a:latin typeface="Times New Roman"/>
                <a:cs typeface="Times New Roman"/>
              </a:rPr>
              <a:t>Schema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1185417"/>
            <a:ext cx="5695315" cy="8611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Match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table</a:t>
            </a:r>
            <a:endParaRPr sz="1200">
              <a:latin typeface="Courier New"/>
              <a:cs typeface="Courier New"/>
            </a:endParaRPr>
          </a:p>
          <a:p>
            <a:pPr marL="378460" marR="2291080" indent="-366395">
              <a:lnSpc>
                <a:spcPct val="168300"/>
              </a:lnSpc>
              <a:spcBef>
                <a:spcPts val="25"/>
              </a:spcBef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EXISTS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`Match`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spc="-50" dirty="0">
                <a:latin typeface="Courier New"/>
                <a:cs typeface="Courier New"/>
              </a:rPr>
              <a:t>( </a:t>
            </a:r>
            <a:r>
              <a:rPr sz="1200" dirty="0">
                <a:latin typeface="Courier New"/>
                <a:cs typeface="Courier New"/>
              </a:rPr>
              <a:t>Match_ID</a:t>
            </a:r>
            <a:r>
              <a:rPr sz="1200" spc="-11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VARCHAR(10)</a:t>
            </a:r>
            <a:r>
              <a:rPr sz="1200" spc="-10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PRIMARY</a:t>
            </a:r>
            <a:r>
              <a:rPr sz="1200" spc="-10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KEY,</a:t>
            </a:r>
            <a:endParaRPr sz="1200">
              <a:latin typeface="Courier New"/>
              <a:cs typeface="Courier New"/>
            </a:endParaRPr>
          </a:p>
          <a:p>
            <a:pPr marL="378460" marR="2931160">
              <a:lnSpc>
                <a:spcPct val="168300"/>
              </a:lnSpc>
              <a:spcBef>
                <a:spcPts val="25"/>
              </a:spcBef>
            </a:pPr>
            <a:r>
              <a:rPr sz="1200" dirty="0">
                <a:latin typeface="Courier New"/>
                <a:cs typeface="Courier New"/>
              </a:rPr>
              <a:t>Stadium_Name</a:t>
            </a:r>
            <a:r>
              <a:rPr sz="1200" spc="-15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VARCHAR(100), </a:t>
            </a:r>
            <a:r>
              <a:rPr sz="1200" dirty="0">
                <a:latin typeface="Courier New"/>
                <a:cs typeface="Courier New"/>
              </a:rPr>
              <a:t>Date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DATE,</a:t>
            </a:r>
            <a:endParaRPr sz="1200">
              <a:latin typeface="Courier New"/>
              <a:cs typeface="Courier New"/>
            </a:endParaRPr>
          </a:p>
          <a:p>
            <a:pPr marL="378460" marR="3387725">
              <a:lnSpc>
                <a:spcPts val="2450"/>
              </a:lnSpc>
              <a:spcBef>
                <a:spcPts val="250"/>
              </a:spcBef>
            </a:pPr>
            <a:r>
              <a:rPr sz="1200" dirty="0">
                <a:latin typeface="Courier New"/>
                <a:cs typeface="Courier New"/>
              </a:rPr>
              <a:t>Team1_ID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 </a:t>
            </a:r>
            <a:r>
              <a:rPr sz="1200" dirty="0">
                <a:latin typeface="Courier New"/>
                <a:cs typeface="Courier New"/>
              </a:rPr>
              <a:t>Team2_ID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735"/>
              </a:spcBef>
            </a:pP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(Team1_ID)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Team(Team_ID),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005"/>
              </a:spcBef>
            </a:pP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(Team2_ID)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Team(Team_ID)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200" spc="-25" dirty="0"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37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Participate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(junction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between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Department </a:t>
            </a:r>
            <a:r>
              <a:rPr sz="1200" dirty="0">
                <a:latin typeface="Courier New"/>
                <a:cs typeface="Courier New"/>
              </a:rPr>
              <a:t>and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Match)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EXISTS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Participate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50" dirty="0">
                <a:latin typeface="Courier New"/>
                <a:cs typeface="Courier New"/>
              </a:rPr>
              <a:t>(</a:t>
            </a:r>
            <a:endParaRPr sz="1200">
              <a:latin typeface="Courier New"/>
              <a:cs typeface="Courier New"/>
            </a:endParaRPr>
          </a:p>
          <a:p>
            <a:pPr marL="378460" marR="3296920">
              <a:lnSpc>
                <a:spcPct val="170000"/>
              </a:lnSpc>
            </a:pPr>
            <a:r>
              <a:rPr sz="1200" dirty="0">
                <a:latin typeface="Courier New"/>
                <a:cs typeface="Courier New"/>
              </a:rPr>
              <a:t>Dept_code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 </a:t>
            </a:r>
            <a:r>
              <a:rPr sz="1200" dirty="0">
                <a:latin typeface="Courier New"/>
                <a:cs typeface="Courier New"/>
              </a:rPr>
              <a:t>Match_ID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985"/>
              </a:spcBef>
            </a:pPr>
            <a:r>
              <a:rPr sz="1200" dirty="0">
                <a:latin typeface="Courier New"/>
                <a:cs typeface="Courier New"/>
              </a:rPr>
              <a:t>PRIMARY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(Dept_code,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Match_ID),</a:t>
            </a:r>
            <a:endParaRPr sz="1200">
              <a:latin typeface="Courier New"/>
              <a:cs typeface="Courier New"/>
            </a:endParaRPr>
          </a:p>
          <a:p>
            <a:pPr marL="378460" marR="96520">
              <a:lnSpc>
                <a:spcPct val="168300"/>
              </a:lnSpc>
              <a:spcBef>
                <a:spcPts val="25"/>
              </a:spcBef>
            </a:pP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(Dept_code)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Department(Dept_Code), </a:t>
            </a: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(Match_ID)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`Match`(Match_ID)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200" spc="-25" dirty="0"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200">
              <a:latin typeface="Courier New"/>
              <a:cs typeface="Courier New"/>
            </a:endParaRPr>
          </a:p>
          <a:p>
            <a:pPr marL="12700" marR="278130">
              <a:lnSpc>
                <a:spcPts val="1370"/>
              </a:lnSpc>
              <a:spcBef>
                <a:spcPts val="5"/>
              </a:spcBef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Team_Match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(junction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between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Team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and </a:t>
            </a:r>
            <a:r>
              <a:rPr sz="1200" spc="-10" dirty="0">
                <a:latin typeface="Courier New"/>
                <a:cs typeface="Courier New"/>
              </a:rPr>
              <a:t>Match)</a:t>
            </a:r>
            <a:endParaRPr sz="1200">
              <a:latin typeface="Courier New"/>
              <a:cs typeface="Courier New"/>
            </a:endParaRPr>
          </a:p>
          <a:p>
            <a:pPr marL="378460" marR="2108200" indent="-366395">
              <a:lnSpc>
                <a:spcPts val="2430"/>
              </a:lnSpc>
              <a:spcBef>
                <a:spcPts val="225"/>
              </a:spcBef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EXISTS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Team_Match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50" dirty="0">
                <a:latin typeface="Courier New"/>
                <a:cs typeface="Courier New"/>
              </a:rPr>
              <a:t>( </a:t>
            </a:r>
            <a:r>
              <a:rPr sz="1200" dirty="0">
                <a:latin typeface="Courier New"/>
                <a:cs typeface="Courier New"/>
              </a:rPr>
              <a:t>Team_ID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760"/>
              </a:spcBef>
            </a:pPr>
            <a:r>
              <a:rPr sz="1200" dirty="0">
                <a:latin typeface="Courier New"/>
                <a:cs typeface="Courier New"/>
              </a:rPr>
              <a:t>Match_ID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005"/>
              </a:spcBef>
            </a:pPr>
            <a:r>
              <a:rPr sz="1200" dirty="0">
                <a:latin typeface="Courier New"/>
                <a:cs typeface="Courier New"/>
              </a:rPr>
              <a:t>PRIMARY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(Team_ID,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Match_ID),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1185417"/>
            <a:ext cx="5695315" cy="9013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(Team_ID)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Team(Team_ID),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985"/>
              </a:spcBef>
            </a:pP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(Match_ID)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`Match`(Match_ID)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200" spc="-25" dirty="0"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table</a:t>
            </a:r>
            <a:endParaRPr sz="1200">
              <a:latin typeface="Courier New"/>
              <a:cs typeface="Courier New"/>
            </a:endParaRPr>
          </a:p>
          <a:p>
            <a:pPr marL="378460" marR="2199640" indent="-366395">
              <a:lnSpc>
                <a:spcPct val="169200"/>
              </a:lnSpc>
              <a:spcBef>
                <a:spcPts val="15"/>
              </a:spcBef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EXISTS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spc="-50" dirty="0">
                <a:latin typeface="Courier New"/>
                <a:cs typeface="Courier New"/>
              </a:rPr>
              <a:t>( </a:t>
            </a:r>
            <a:r>
              <a:rPr sz="1200" dirty="0">
                <a:latin typeface="Courier New"/>
                <a:cs typeface="Courier New"/>
              </a:rPr>
              <a:t>Player_ID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VARCHAR(10)</a:t>
            </a:r>
            <a:r>
              <a:rPr sz="1200" spc="-11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PRIMARY</a:t>
            </a:r>
            <a:r>
              <a:rPr sz="1200" spc="-110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KEY, </a:t>
            </a:r>
            <a:r>
              <a:rPr sz="1200" dirty="0">
                <a:latin typeface="Courier New"/>
                <a:cs typeface="Courier New"/>
              </a:rPr>
              <a:t>Name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VARCHAR(100)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NULL,</a:t>
            </a:r>
            <a:endParaRPr sz="1200">
              <a:latin typeface="Courier New"/>
              <a:cs typeface="Courier New"/>
            </a:endParaRPr>
          </a:p>
          <a:p>
            <a:pPr marL="378460" marR="3205480">
              <a:lnSpc>
                <a:spcPct val="168300"/>
              </a:lnSpc>
              <a:spcBef>
                <a:spcPts val="30"/>
              </a:spcBef>
            </a:pPr>
            <a:r>
              <a:rPr sz="1200" dirty="0">
                <a:latin typeface="Courier New"/>
                <a:cs typeface="Courier New"/>
              </a:rPr>
              <a:t>Contact_No</a:t>
            </a:r>
            <a:r>
              <a:rPr sz="1200" spc="-12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VARCHAR(15), </a:t>
            </a:r>
            <a:r>
              <a:rPr sz="1200" dirty="0">
                <a:latin typeface="Courier New"/>
                <a:cs typeface="Courier New"/>
              </a:rPr>
              <a:t>Age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INT,</a:t>
            </a:r>
            <a:endParaRPr sz="1200">
              <a:latin typeface="Courier New"/>
              <a:cs typeface="Courier New"/>
            </a:endParaRPr>
          </a:p>
          <a:p>
            <a:pPr marL="378460" marR="2747645">
              <a:lnSpc>
                <a:spcPct val="169500"/>
              </a:lnSpc>
              <a:spcBef>
                <a:spcPts val="5"/>
              </a:spcBef>
            </a:pPr>
            <a:r>
              <a:rPr sz="1200" dirty="0">
                <a:latin typeface="Courier New"/>
                <a:cs typeface="Courier New"/>
              </a:rPr>
              <a:t>Position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VARCHAR(50), </a:t>
            </a:r>
            <a:r>
              <a:rPr sz="1200" dirty="0">
                <a:latin typeface="Courier New"/>
                <a:cs typeface="Courier New"/>
              </a:rPr>
              <a:t>Minutes_Played</a:t>
            </a:r>
            <a:r>
              <a:rPr sz="1200" spc="-17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INT, </a:t>
            </a:r>
            <a:r>
              <a:rPr sz="1200" dirty="0">
                <a:latin typeface="Courier New"/>
                <a:cs typeface="Courier New"/>
              </a:rPr>
              <a:t>Skills_Rating</a:t>
            </a:r>
            <a:r>
              <a:rPr sz="1200" spc="-1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DECIMAL(3,</a:t>
            </a:r>
            <a:r>
              <a:rPr sz="1200" spc="-140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1), </a:t>
            </a:r>
            <a:r>
              <a:rPr sz="1200" dirty="0">
                <a:latin typeface="Courier New"/>
                <a:cs typeface="Courier New"/>
              </a:rPr>
              <a:t>Team_ID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010"/>
              </a:spcBef>
            </a:pP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(Team_ID)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Team(Team_ID)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200" spc="-25" dirty="0"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34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Match_Player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(junction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between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Match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and </a:t>
            </a:r>
            <a:r>
              <a:rPr sz="1200" spc="-10" dirty="0">
                <a:latin typeface="Courier New"/>
                <a:cs typeface="Courier New"/>
              </a:rPr>
              <a:t>Player)</a:t>
            </a:r>
            <a:endParaRPr sz="1200">
              <a:latin typeface="Courier New"/>
              <a:cs typeface="Courier New"/>
            </a:endParaRPr>
          </a:p>
          <a:p>
            <a:pPr marL="378460" marR="1925320" indent="-366395">
              <a:lnSpc>
                <a:spcPct val="168300"/>
              </a:lnSpc>
              <a:spcBef>
                <a:spcPts val="5"/>
              </a:spcBef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EXISTS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Match_Player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50" dirty="0">
                <a:latin typeface="Courier New"/>
                <a:cs typeface="Courier New"/>
              </a:rPr>
              <a:t>( </a:t>
            </a:r>
            <a:r>
              <a:rPr sz="1200" dirty="0">
                <a:latin typeface="Courier New"/>
                <a:cs typeface="Courier New"/>
              </a:rPr>
              <a:t>Match_ID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005"/>
              </a:spcBef>
            </a:pPr>
            <a:r>
              <a:rPr sz="1200" dirty="0">
                <a:latin typeface="Courier New"/>
                <a:cs typeface="Courier New"/>
              </a:rPr>
              <a:t>Player_ID</a:t>
            </a:r>
            <a:r>
              <a:rPr sz="1200" spc="-11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010"/>
              </a:spcBef>
            </a:pPr>
            <a:r>
              <a:rPr sz="1200" dirty="0">
                <a:latin typeface="Courier New"/>
                <a:cs typeface="Courier New"/>
              </a:rPr>
              <a:t>PRIMARY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(Match_ID,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Player_ID),</a:t>
            </a:r>
            <a:endParaRPr sz="1200">
              <a:latin typeface="Courier New"/>
              <a:cs typeface="Courier New"/>
            </a:endParaRPr>
          </a:p>
          <a:p>
            <a:pPr marL="378460" marR="553720">
              <a:lnSpc>
                <a:spcPts val="2450"/>
              </a:lnSpc>
              <a:spcBef>
                <a:spcPts val="225"/>
              </a:spcBef>
            </a:pP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(Match_ID)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`Match`(Match_ID), </a:t>
            </a: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(Player_ID)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Player(Player_ID)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200" spc="-25" dirty="0"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Score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table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EXISTS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Score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spc="-50" dirty="0">
                <a:latin typeface="Courier New"/>
                <a:cs typeface="Courier New"/>
              </a:rPr>
              <a:t>(</a:t>
            </a:r>
            <a:endParaRPr sz="1200">
              <a:latin typeface="Courier New"/>
              <a:cs typeface="Courier New"/>
            </a:endParaRPr>
          </a:p>
          <a:p>
            <a:pPr marL="96520" algn="ctr">
              <a:lnSpc>
                <a:spcPct val="100000"/>
              </a:lnSpc>
              <a:spcBef>
                <a:spcPts val="650"/>
              </a:spcBef>
            </a:pP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1185417"/>
            <a:ext cx="5696585" cy="874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ourier New"/>
                <a:cs typeface="Courier New"/>
              </a:rPr>
              <a:t>Score_ID</a:t>
            </a:r>
            <a:r>
              <a:rPr sz="1200" spc="-10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VARCHAR(10)</a:t>
            </a:r>
            <a:r>
              <a:rPr sz="1200" spc="-10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PRIMARY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KEY,</a:t>
            </a:r>
            <a:endParaRPr sz="1200">
              <a:latin typeface="Courier New"/>
              <a:cs typeface="Courier New"/>
            </a:endParaRPr>
          </a:p>
          <a:p>
            <a:pPr marL="378460" marR="4121150">
              <a:lnSpc>
                <a:spcPts val="2450"/>
              </a:lnSpc>
              <a:spcBef>
                <a:spcPts val="225"/>
              </a:spcBef>
            </a:pPr>
            <a:r>
              <a:rPr sz="1200" dirty="0">
                <a:latin typeface="Courier New"/>
                <a:cs typeface="Courier New"/>
              </a:rPr>
              <a:t>Number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INT, </a:t>
            </a:r>
            <a:r>
              <a:rPr sz="1200" dirty="0">
                <a:latin typeface="Courier New"/>
                <a:cs typeface="Courier New"/>
              </a:rPr>
              <a:t>Duration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INT,</a:t>
            </a:r>
            <a:endParaRPr sz="1200">
              <a:latin typeface="Courier New"/>
              <a:cs typeface="Courier New"/>
            </a:endParaRPr>
          </a:p>
          <a:p>
            <a:pPr marL="378460" marR="3389629">
              <a:lnSpc>
                <a:spcPts val="2420"/>
              </a:lnSpc>
              <a:spcBef>
                <a:spcPts val="20"/>
              </a:spcBef>
            </a:pPr>
            <a:r>
              <a:rPr sz="1200" dirty="0">
                <a:latin typeface="Courier New"/>
                <a:cs typeface="Courier New"/>
              </a:rPr>
              <a:t>Match_ID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 </a:t>
            </a:r>
            <a:r>
              <a:rPr sz="1200" dirty="0">
                <a:latin typeface="Courier New"/>
                <a:cs typeface="Courier New"/>
              </a:rPr>
              <a:t>Team_ID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 marR="554990">
              <a:lnSpc>
                <a:spcPts val="2420"/>
              </a:lnSpc>
              <a:spcBef>
                <a:spcPts val="35"/>
              </a:spcBef>
            </a:pP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(Match_ID)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`Match`(Match_ID), </a:t>
            </a: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(Team_ID)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Team(Team_ID)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200" spc="-25" dirty="0"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370"/>
              </a:lnSpc>
              <a:spcBef>
                <a:spcPts val="5"/>
              </a:spcBef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Contributed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(junction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between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and </a:t>
            </a:r>
            <a:r>
              <a:rPr sz="1200" spc="-10" dirty="0">
                <a:latin typeface="Courier New"/>
                <a:cs typeface="Courier New"/>
              </a:rPr>
              <a:t>Score)</a:t>
            </a:r>
            <a:endParaRPr sz="1200">
              <a:latin typeface="Courier New"/>
              <a:cs typeface="Courier New"/>
            </a:endParaRPr>
          </a:p>
          <a:p>
            <a:pPr marL="378460" marR="2018030" indent="-366395">
              <a:lnSpc>
                <a:spcPts val="2430"/>
              </a:lnSpc>
              <a:spcBef>
                <a:spcPts val="225"/>
              </a:spcBef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EXISTS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Contributed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50" dirty="0">
                <a:latin typeface="Courier New"/>
                <a:cs typeface="Courier New"/>
              </a:rPr>
              <a:t>( </a:t>
            </a:r>
            <a:r>
              <a:rPr sz="1200" dirty="0">
                <a:latin typeface="Courier New"/>
                <a:cs typeface="Courier New"/>
              </a:rPr>
              <a:t>Player_ID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760"/>
              </a:spcBef>
            </a:pPr>
            <a:r>
              <a:rPr sz="1200" dirty="0">
                <a:latin typeface="Courier New"/>
                <a:cs typeface="Courier New"/>
              </a:rPr>
              <a:t>Score_ID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005"/>
              </a:spcBef>
            </a:pPr>
            <a:r>
              <a:rPr sz="1200" dirty="0">
                <a:latin typeface="Courier New"/>
                <a:cs typeface="Courier New"/>
              </a:rPr>
              <a:t>Match_ID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latin typeface="Courier New"/>
                <a:cs typeface="Courier New"/>
              </a:rPr>
              <a:t>PRIMARY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(Player_ID,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Score_ID),</a:t>
            </a:r>
            <a:endParaRPr sz="1200">
              <a:latin typeface="Courier New"/>
              <a:cs typeface="Courier New"/>
            </a:endParaRPr>
          </a:p>
          <a:p>
            <a:pPr marL="378460" marR="463550">
              <a:lnSpc>
                <a:spcPct val="169200"/>
              </a:lnSpc>
              <a:spcBef>
                <a:spcPts val="10"/>
              </a:spcBef>
            </a:pP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(Player_ID)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Player(Player_ID), </a:t>
            </a: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(Score_ID)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Score(Score_ID), </a:t>
            </a: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(Match_ID)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`Match`(Match_ID)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200" spc="-25" dirty="0"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Referee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table</a:t>
            </a:r>
            <a:endParaRPr sz="1200">
              <a:latin typeface="Courier New"/>
              <a:cs typeface="Courier New"/>
            </a:endParaRPr>
          </a:p>
          <a:p>
            <a:pPr marL="378460" marR="2109470" indent="-366395">
              <a:lnSpc>
                <a:spcPct val="169200"/>
              </a:lnSpc>
              <a:spcBef>
                <a:spcPts val="10"/>
              </a:spcBef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EXISTS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Referee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spc="-50" dirty="0">
                <a:latin typeface="Courier New"/>
                <a:cs typeface="Courier New"/>
              </a:rPr>
              <a:t>( </a:t>
            </a:r>
            <a:r>
              <a:rPr sz="1200" dirty="0">
                <a:latin typeface="Courier New"/>
                <a:cs typeface="Courier New"/>
              </a:rPr>
              <a:t>Referee_ID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VARCHAR(10)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PRIMARY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KEY, </a:t>
            </a:r>
            <a:r>
              <a:rPr sz="1200" dirty="0">
                <a:latin typeface="Courier New"/>
                <a:cs typeface="Courier New"/>
              </a:rPr>
              <a:t>Role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VARCHAR(50),</a:t>
            </a:r>
            <a:endParaRPr sz="1200">
              <a:latin typeface="Courier New"/>
              <a:cs typeface="Courier New"/>
            </a:endParaRPr>
          </a:p>
          <a:p>
            <a:pPr marL="378460" marR="2840990">
              <a:lnSpc>
                <a:spcPct val="168500"/>
              </a:lnSpc>
              <a:spcBef>
                <a:spcPts val="25"/>
              </a:spcBef>
            </a:pPr>
            <a:r>
              <a:rPr sz="1200" dirty="0">
                <a:latin typeface="Courier New"/>
                <a:cs typeface="Courier New"/>
              </a:rPr>
              <a:t>Name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VARCHAR(100)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NULL, </a:t>
            </a:r>
            <a:r>
              <a:rPr sz="1200" dirty="0">
                <a:latin typeface="Courier New"/>
                <a:cs typeface="Courier New"/>
              </a:rPr>
              <a:t>Age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INT,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005"/>
              </a:spcBef>
            </a:pPr>
            <a:r>
              <a:rPr sz="1200" dirty="0">
                <a:latin typeface="Courier New"/>
                <a:cs typeface="Courier New"/>
              </a:rPr>
              <a:t>Institute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VARCHAR(100)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200" spc="-25" dirty="0"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1493646"/>
            <a:ext cx="5786755" cy="87058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1370"/>
              </a:lnSpc>
              <a:spcBef>
                <a:spcPts val="200"/>
              </a:spcBef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Referee_Matches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(junction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between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Referee </a:t>
            </a:r>
            <a:r>
              <a:rPr sz="1200" dirty="0">
                <a:latin typeface="Courier New"/>
                <a:cs typeface="Courier New"/>
              </a:rPr>
              <a:t>and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Match)</a:t>
            </a:r>
            <a:endParaRPr sz="1200">
              <a:latin typeface="Courier New"/>
              <a:cs typeface="Courier New"/>
            </a:endParaRPr>
          </a:p>
          <a:p>
            <a:pPr marL="378460" marR="1742439" indent="-366395">
              <a:lnSpc>
                <a:spcPts val="2420"/>
              </a:lnSpc>
              <a:spcBef>
                <a:spcPts val="240"/>
              </a:spcBef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EXISTS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Referee_Matches</a:t>
            </a:r>
            <a:r>
              <a:rPr sz="1200" spc="-50" dirty="0">
                <a:latin typeface="Courier New"/>
                <a:cs typeface="Courier New"/>
              </a:rPr>
              <a:t> ( </a:t>
            </a:r>
            <a:r>
              <a:rPr sz="1200" dirty="0">
                <a:latin typeface="Courier New"/>
                <a:cs typeface="Courier New"/>
              </a:rPr>
              <a:t>Referee_ID</a:t>
            </a:r>
            <a:r>
              <a:rPr sz="1200" spc="-12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770"/>
              </a:spcBef>
            </a:pPr>
            <a:r>
              <a:rPr sz="1200" dirty="0">
                <a:latin typeface="Courier New"/>
                <a:cs typeface="Courier New"/>
              </a:rPr>
              <a:t>Match_ID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985"/>
              </a:spcBef>
            </a:pPr>
            <a:r>
              <a:rPr sz="1200" dirty="0">
                <a:latin typeface="Courier New"/>
                <a:cs typeface="Courier New"/>
              </a:rPr>
              <a:t>PRIMARY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(Referee_ID,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Match_ID),</a:t>
            </a:r>
            <a:endParaRPr sz="1200">
              <a:latin typeface="Courier New"/>
              <a:cs typeface="Courier New"/>
            </a:endParaRPr>
          </a:p>
          <a:p>
            <a:pPr marL="378460" marR="279400">
              <a:lnSpc>
                <a:spcPct val="170000"/>
              </a:lnSpc>
            </a:pP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(Referee_ID)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Referee(Referee_ID), </a:t>
            </a: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(Match_ID)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`Match`(Match_ID)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200" spc="-25" dirty="0"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Punishment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table</a:t>
            </a:r>
            <a:endParaRPr sz="1200">
              <a:latin typeface="Courier New"/>
              <a:cs typeface="Courier New"/>
            </a:endParaRPr>
          </a:p>
          <a:p>
            <a:pPr marL="378460" marR="1925320" indent="-366395">
              <a:lnSpc>
                <a:spcPts val="2450"/>
              </a:lnSpc>
              <a:spcBef>
                <a:spcPts val="229"/>
              </a:spcBef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EXISTS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Punishment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50" dirty="0">
                <a:latin typeface="Courier New"/>
                <a:cs typeface="Courier New"/>
              </a:rPr>
              <a:t>( </a:t>
            </a:r>
            <a:r>
              <a:rPr sz="1200" dirty="0">
                <a:latin typeface="Courier New"/>
                <a:cs typeface="Courier New"/>
              </a:rPr>
              <a:t>Punishment_ID</a:t>
            </a:r>
            <a:r>
              <a:rPr sz="1200" spc="-13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VARCHAR(10)</a:t>
            </a:r>
            <a:r>
              <a:rPr sz="1200" spc="-12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PRIMARY</a:t>
            </a:r>
            <a:r>
              <a:rPr sz="1200" spc="-12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KEY, </a:t>
            </a:r>
            <a:r>
              <a:rPr sz="1200" dirty="0">
                <a:latin typeface="Courier New"/>
                <a:cs typeface="Courier New"/>
              </a:rPr>
              <a:t>Name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VARCHAR(100)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NULL,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730"/>
              </a:spcBef>
            </a:pPr>
            <a:r>
              <a:rPr sz="1200" spc="-10" dirty="0">
                <a:latin typeface="Courier New"/>
                <a:cs typeface="Courier New"/>
              </a:rPr>
              <a:t>Player_Semester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VARCHAR(20),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010"/>
              </a:spcBef>
            </a:pPr>
            <a:r>
              <a:rPr sz="1200" dirty="0">
                <a:latin typeface="Courier New"/>
                <a:cs typeface="Courier New"/>
              </a:rPr>
              <a:t>Referee_ID</a:t>
            </a:r>
            <a:r>
              <a:rPr sz="1200" spc="-12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005"/>
              </a:spcBef>
            </a:pP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(Referee_ID)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Referee(Referee_ID)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200" spc="-25" dirty="0"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200">
              <a:latin typeface="Courier New"/>
              <a:cs typeface="Courier New"/>
            </a:endParaRPr>
          </a:p>
          <a:p>
            <a:pPr marL="12700" marR="96520">
              <a:lnSpc>
                <a:spcPts val="137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Match_Punishment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(junction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between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Match </a:t>
            </a:r>
            <a:r>
              <a:rPr sz="1200" dirty="0">
                <a:latin typeface="Courier New"/>
                <a:cs typeface="Courier New"/>
              </a:rPr>
              <a:t>and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Punishment)</a:t>
            </a:r>
            <a:endParaRPr sz="1200">
              <a:latin typeface="Courier New"/>
              <a:cs typeface="Courier New"/>
            </a:endParaRPr>
          </a:p>
          <a:p>
            <a:pPr marL="378460" marR="1651000" indent="-366395">
              <a:lnSpc>
                <a:spcPts val="2430"/>
              </a:lnSpc>
              <a:spcBef>
                <a:spcPts val="229"/>
              </a:spcBef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EXISTS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Match_Punishment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spc="-50" dirty="0">
                <a:latin typeface="Courier New"/>
                <a:cs typeface="Courier New"/>
              </a:rPr>
              <a:t>( </a:t>
            </a:r>
            <a:r>
              <a:rPr sz="1200" dirty="0">
                <a:latin typeface="Courier New"/>
                <a:cs typeface="Courier New"/>
              </a:rPr>
              <a:t>Match_ID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755"/>
              </a:spcBef>
            </a:pPr>
            <a:r>
              <a:rPr sz="1200" dirty="0">
                <a:latin typeface="Courier New"/>
                <a:cs typeface="Courier New"/>
              </a:rPr>
              <a:t>Punishment_ID</a:t>
            </a:r>
            <a:r>
              <a:rPr sz="1200" spc="-16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010"/>
              </a:spcBef>
            </a:pPr>
            <a:r>
              <a:rPr sz="1200" dirty="0">
                <a:latin typeface="Courier New"/>
                <a:cs typeface="Courier New"/>
              </a:rPr>
              <a:t>PRIMARY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(Match_ID,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Punishment_ID),</a:t>
            </a:r>
            <a:endParaRPr sz="1200">
              <a:latin typeface="Courier New"/>
              <a:cs typeface="Courier New"/>
            </a:endParaRPr>
          </a:p>
          <a:p>
            <a:pPr marL="378460" marR="645160">
              <a:lnSpc>
                <a:spcPts val="2450"/>
              </a:lnSpc>
              <a:spcBef>
                <a:spcPts val="225"/>
              </a:spcBef>
            </a:pP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(Match_ID)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`Match`(Match_ID), </a:t>
            </a: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(Punishment_ID)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REFERENCES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115"/>
              </a:lnSpc>
            </a:pPr>
            <a:r>
              <a:rPr sz="1200" spc="-10" dirty="0">
                <a:latin typeface="Courier New"/>
                <a:cs typeface="Courier New"/>
              </a:rPr>
              <a:t>Punishment(Punishment_ID)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200" spc="-25" dirty="0"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 marL="5080" algn="ctr">
              <a:lnSpc>
                <a:spcPct val="100000"/>
              </a:lnSpc>
              <a:spcBef>
                <a:spcPts val="385"/>
              </a:spcBef>
            </a:pP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1493646"/>
            <a:ext cx="5878830" cy="844359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1370"/>
              </a:lnSpc>
              <a:spcBef>
                <a:spcPts val="200"/>
              </a:spcBef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Player_Punishment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(junction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between</a:t>
            </a:r>
            <a:r>
              <a:rPr sz="1200" spc="-6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Player </a:t>
            </a:r>
            <a:r>
              <a:rPr sz="1200" dirty="0">
                <a:latin typeface="Courier New"/>
                <a:cs typeface="Courier New"/>
              </a:rPr>
              <a:t>and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Punishment)</a:t>
            </a:r>
            <a:endParaRPr sz="1200">
              <a:latin typeface="Courier New"/>
              <a:cs typeface="Courier New"/>
            </a:endParaRPr>
          </a:p>
          <a:p>
            <a:pPr marL="378460" marR="1651635" indent="-366395">
              <a:lnSpc>
                <a:spcPts val="2420"/>
              </a:lnSpc>
              <a:spcBef>
                <a:spcPts val="240"/>
              </a:spcBef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IF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NOT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EXISTS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Player_Punishment</a:t>
            </a:r>
            <a:r>
              <a:rPr sz="1200" spc="-50" dirty="0">
                <a:latin typeface="Courier New"/>
                <a:cs typeface="Courier New"/>
              </a:rPr>
              <a:t> ( </a:t>
            </a:r>
            <a:r>
              <a:rPr sz="1200" dirty="0">
                <a:latin typeface="Courier New"/>
                <a:cs typeface="Courier New"/>
              </a:rPr>
              <a:t>Player_ID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770"/>
              </a:spcBef>
            </a:pPr>
            <a:r>
              <a:rPr sz="1200" dirty="0">
                <a:latin typeface="Courier New"/>
                <a:cs typeface="Courier New"/>
              </a:rPr>
              <a:t>Punishment_ID</a:t>
            </a:r>
            <a:r>
              <a:rPr sz="1200" spc="-16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VARCHAR(10),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985"/>
              </a:spcBef>
            </a:pPr>
            <a:r>
              <a:rPr sz="1200" dirty="0">
                <a:latin typeface="Courier New"/>
                <a:cs typeface="Courier New"/>
              </a:rPr>
              <a:t>PRIMARY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(Player_ID,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Punishment_ID),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1005"/>
              </a:spcBef>
            </a:pP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(Player_ID)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REFERENCES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Player(Player_ID),</a:t>
            </a:r>
            <a:endParaRPr sz="1200">
              <a:latin typeface="Courier New"/>
              <a:cs typeface="Courier New"/>
            </a:endParaRPr>
          </a:p>
          <a:p>
            <a:pPr marL="378460">
              <a:lnSpc>
                <a:spcPts val="1395"/>
              </a:lnSpc>
              <a:spcBef>
                <a:spcPts val="1010"/>
              </a:spcBef>
            </a:pPr>
            <a:r>
              <a:rPr sz="1200" dirty="0">
                <a:latin typeface="Courier New"/>
                <a:cs typeface="Courier New"/>
              </a:rPr>
              <a:t>FOREIGN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KEY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(Punishment_ID)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REFERENCES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395"/>
              </a:lnSpc>
            </a:pPr>
            <a:r>
              <a:rPr sz="1200" spc="-10" dirty="0">
                <a:latin typeface="Courier New"/>
                <a:cs typeface="Courier New"/>
              </a:rPr>
              <a:t>Punishment(Punishment_ID)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200" spc="-25" dirty="0"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sample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data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Department</a:t>
            </a:r>
            <a:endParaRPr sz="1200">
              <a:latin typeface="Courier New"/>
              <a:cs typeface="Courier New"/>
            </a:endParaRPr>
          </a:p>
          <a:p>
            <a:pPr marL="12700" marR="97155">
              <a:lnSpc>
                <a:spcPts val="1370"/>
              </a:lnSpc>
              <a:spcBef>
                <a:spcPts val="108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Department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('D001',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'CS',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'Dr.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James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Smith', </a:t>
            </a:r>
            <a:r>
              <a:rPr sz="1200" dirty="0">
                <a:latin typeface="Courier New"/>
                <a:cs typeface="Courier New"/>
              </a:rPr>
              <a:t>1985,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120000.00);</a:t>
            </a:r>
            <a:endParaRPr sz="1200">
              <a:latin typeface="Courier New"/>
              <a:cs typeface="Courier New"/>
            </a:endParaRPr>
          </a:p>
          <a:p>
            <a:pPr marL="12700" marR="826769">
              <a:lnSpc>
                <a:spcPts val="1340"/>
              </a:lnSpc>
              <a:spcBef>
                <a:spcPts val="110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Department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('D002',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'ENG',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'Dr.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Lisa </a:t>
            </a:r>
            <a:r>
              <a:rPr sz="1200" dirty="0">
                <a:latin typeface="Courier New"/>
                <a:cs typeface="Courier New"/>
              </a:rPr>
              <a:t>Johnson',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1990,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110000.00);</a:t>
            </a:r>
            <a:endParaRPr sz="1200">
              <a:latin typeface="Courier New"/>
              <a:cs typeface="Courier New"/>
            </a:endParaRPr>
          </a:p>
          <a:p>
            <a:pPr marL="12700" marR="645795">
              <a:lnSpc>
                <a:spcPts val="1340"/>
              </a:lnSpc>
              <a:spcBef>
                <a:spcPts val="111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Department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('D003',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'BUS',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'Dr.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Robert </a:t>
            </a:r>
            <a:r>
              <a:rPr sz="1200" dirty="0">
                <a:latin typeface="Courier New"/>
                <a:cs typeface="Courier New"/>
              </a:rPr>
              <a:t>Williams',</a:t>
            </a:r>
            <a:r>
              <a:rPr sz="1200" spc="-9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1988,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130000.00);</a:t>
            </a:r>
            <a:endParaRPr sz="1200">
              <a:latin typeface="Courier New"/>
              <a:cs typeface="Courier New"/>
            </a:endParaRPr>
          </a:p>
          <a:p>
            <a:pPr marL="12700" marR="5715">
              <a:lnSpc>
                <a:spcPts val="1370"/>
              </a:lnSpc>
              <a:spcBef>
                <a:spcPts val="109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Department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('D004',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'MED',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'Dr.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Sarah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Davis', </a:t>
            </a:r>
            <a:r>
              <a:rPr sz="1200" dirty="0">
                <a:latin typeface="Courier New"/>
                <a:cs typeface="Courier New"/>
              </a:rPr>
              <a:t>1992,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150000.00);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Team</a:t>
            </a:r>
            <a:endParaRPr sz="1200">
              <a:latin typeface="Courier New"/>
              <a:cs typeface="Courier New"/>
            </a:endParaRPr>
          </a:p>
          <a:p>
            <a:pPr marL="12700" marR="279400">
              <a:lnSpc>
                <a:spcPts val="1340"/>
              </a:lnSpc>
              <a:spcBef>
                <a:spcPts val="113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Team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('T001',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'D001',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'Mike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Anderson',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'CS </a:t>
            </a:r>
            <a:r>
              <a:rPr sz="1200" dirty="0">
                <a:latin typeface="Courier New"/>
                <a:cs typeface="Courier New"/>
              </a:rPr>
              <a:t>Tigers',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'PR001');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05"/>
              </a:lnSpc>
              <a:spcBef>
                <a:spcPts val="98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Team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('T002',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'D002',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'Emily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Wilson',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05"/>
              </a:lnSpc>
            </a:pPr>
            <a:r>
              <a:rPr sz="1200" dirty="0">
                <a:latin typeface="Courier New"/>
                <a:cs typeface="Courier New"/>
              </a:rPr>
              <a:t>'Engineering</a:t>
            </a:r>
            <a:r>
              <a:rPr sz="1200" spc="-13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Eagles',</a:t>
            </a:r>
            <a:r>
              <a:rPr sz="1200" spc="-12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'PR002');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05"/>
              </a:lnSpc>
              <a:spcBef>
                <a:spcPts val="99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Team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('T003',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'D003',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'Daniel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Martin',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05"/>
              </a:lnSpc>
            </a:pPr>
            <a:r>
              <a:rPr sz="1200" dirty="0">
                <a:latin typeface="Courier New"/>
                <a:cs typeface="Courier New"/>
              </a:rPr>
              <a:t>'Business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Bulls',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'PR003');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390"/>
              </a:lnSpc>
              <a:spcBef>
                <a:spcPts val="100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Team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('T004',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'D004',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'Julia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Garcia',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390"/>
              </a:lnSpc>
            </a:pPr>
            <a:r>
              <a:rPr sz="1200" dirty="0">
                <a:latin typeface="Courier New"/>
                <a:cs typeface="Courier New"/>
              </a:rPr>
              <a:t>'Medical</a:t>
            </a:r>
            <a:r>
              <a:rPr sz="1200" spc="-12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Mavericks',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'PR004');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31767" y="9990835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6764" y="1185417"/>
            <a:ext cx="5880100" cy="4032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90"/>
              </a:lnSpc>
              <a:spcBef>
                <a:spcPts val="10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Team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('T005',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'D001',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'Alex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Thompson',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'CS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390"/>
              </a:lnSpc>
            </a:pPr>
            <a:r>
              <a:rPr sz="1200" dirty="0">
                <a:latin typeface="Courier New"/>
                <a:cs typeface="Courier New"/>
              </a:rPr>
              <a:t>Panthers',</a:t>
            </a:r>
            <a:r>
              <a:rPr sz="1200" spc="-12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'PR005');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Match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370"/>
              </a:lnSpc>
              <a:spcBef>
                <a:spcPts val="108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`Match`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('M001',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'Central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Stadium',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'2024-</a:t>
            </a:r>
            <a:r>
              <a:rPr sz="1200" spc="-25" dirty="0">
                <a:latin typeface="Courier New"/>
                <a:cs typeface="Courier New"/>
              </a:rPr>
              <a:t>10- </a:t>
            </a:r>
            <a:r>
              <a:rPr sz="1200" dirty="0">
                <a:latin typeface="Courier New"/>
                <a:cs typeface="Courier New"/>
              </a:rPr>
              <a:t>01',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'T001',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'T002');</a:t>
            </a:r>
            <a:endParaRPr sz="1200">
              <a:latin typeface="Courier New"/>
              <a:cs typeface="Courier New"/>
            </a:endParaRPr>
          </a:p>
          <a:p>
            <a:pPr marL="12700" marR="188595">
              <a:lnSpc>
                <a:spcPts val="1370"/>
              </a:lnSpc>
              <a:spcBef>
                <a:spcPts val="105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`Match`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('M002',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'University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Arena',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'2024- </a:t>
            </a:r>
            <a:r>
              <a:rPr sz="1200" spc="-20" dirty="0">
                <a:latin typeface="Courier New"/>
                <a:cs typeface="Courier New"/>
              </a:rPr>
              <a:t>10-</a:t>
            </a:r>
            <a:r>
              <a:rPr sz="1200" dirty="0">
                <a:latin typeface="Courier New"/>
                <a:cs typeface="Courier New"/>
              </a:rPr>
              <a:t>08',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'T003',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'T004');</a:t>
            </a:r>
            <a:endParaRPr sz="1200">
              <a:latin typeface="Courier New"/>
              <a:cs typeface="Courier New"/>
            </a:endParaRPr>
          </a:p>
          <a:p>
            <a:pPr marL="12700" marR="96520">
              <a:lnSpc>
                <a:spcPts val="1340"/>
              </a:lnSpc>
              <a:spcBef>
                <a:spcPts val="110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`Match`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('M003',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'Sports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Complex',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'2024-</a:t>
            </a:r>
            <a:r>
              <a:rPr sz="1200" spc="-25" dirty="0">
                <a:latin typeface="Courier New"/>
                <a:cs typeface="Courier New"/>
              </a:rPr>
              <a:t>10- </a:t>
            </a:r>
            <a:r>
              <a:rPr sz="1200" dirty="0">
                <a:latin typeface="Courier New"/>
                <a:cs typeface="Courier New"/>
              </a:rPr>
              <a:t>15',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'T001',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'T003');</a:t>
            </a:r>
            <a:endParaRPr sz="1200">
              <a:latin typeface="Courier New"/>
              <a:cs typeface="Courier New"/>
            </a:endParaRPr>
          </a:p>
          <a:p>
            <a:pPr marL="12700" marR="188595">
              <a:lnSpc>
                <a:spcPts val="1370"/>
              </a:lnSpc>
              <a:spcBef>
                <a:spcPts val="109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`Match`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('M004',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'Olympic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Field',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'2024-</a:t>
            </a:r>
            <a:r>
              <a:rPr sz="1200" spc="-25" dirty="0">
                <a:latin typeface="Courier New"/>
                <a:cs typeface="Courier New"/>
              </a:rPr>
              <a:t>10- </a:t>
            </a:r>
            <a:r>
              <a:rPr sz="1200" dirty="0">
                <a:latin typeface="Courier New"/>
                <a:cs typeface="Courier New"/>
              </a:rPr>
              <a:t>22',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'T002',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'T004');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370"/>
              </a:lnSpc>
              <a:spcBef>
                <a:spcPts val="105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`Match`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('M005',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'Victory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Stadium',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'2024-</a:t>
            </a:r>
            <a:r>
              <a:rPr sz="1200" spc="-25" dirty="0">
                <a:latin typeface="Courier New"/>
                <a:cs typeface="Courier New"/>
              </a:rPr>
              <a:t>10- </a:t>
            </a:r>
            <a:r>
              <a:rPr sz="1200" dirty="0">
                <a:latin typeface="Courier New"/>
                <a:cs typeface="Courier New"/>
              </a:rPr>
              <a:t>29',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'T005',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'T004');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Participate</a:t>
            </a:r>
            <a:endParaRPr sz="12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67714" y="5357999"/>
          <a:ext cx="4452618" cy="1720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8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R="6350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Participate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('D001',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Participate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('D002',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Participate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('D003',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'M002');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Participate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('D004',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'M002');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Participate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('D001',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'M003');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Participate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('D003',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'M003');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86764" y="7487538"/>
            <a:ext cx="2312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Team_Match</a:t>
            </a:r>
            <a:endParaRPr sz="12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67714" y="7836658"/>
          <a:ext cx="4363084" cy="2030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0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R="6350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Team_Match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('T001',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Team_Match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('T002',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Team_Match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('T003',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'M002');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Team_Match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('T004',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'M002');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Team_Match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('T001',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'M003');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Team_Match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('T003',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'M003');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Team_Match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('T005',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'M005');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1185417"/>
            <a:ext cx="5880100" cy="8684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Team_Match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('T004',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'M005');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Player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340"/>
              </a:lnSpc>
              <a:spcBef>
                <a:spcPts val="113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('P001',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'John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Smith',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'555-</a:t>
            </a:r>
            <a:r>
              <a:rPr sz="1200" dirty="0">
                <a:latin typeface="Courier New"/>
                <a:cs typeface="Courier New"/>
              </a:rPr>
              <a:t>1234',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20, </a:t>
            </a:r>
            <a:r>
              <a:rPr sz="1200" dirty="0">
                <a:latin typeface="Courier New"/>
                <a:cs typeface="Courier New"/>
              </a:rPr>
              <a:t>'Forward',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120,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8.5,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'T001');</a:t>
            </a:r>
            <a:endParaRPr sz="1200">
              <a:latin typeface="Courier New"/>
              <a:cs typeface="Courier New"/>
            </a:endParaRPr>
          </a:p>
          <a:p>
            <a:pPr marL="12700" marR="279400">
              <a:lnSpc>
                <a:spcPts val="1340"/>
              </a:lnSpc>
              <a:spcBef>
                <a:spcPts val="111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('P002',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'David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Jones',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'555-2345', </a:t>
            </a:r>
            <a:r>
              <a:rPr sz="1200" dirty="0">
                <a:latin typeface="Courier New"/>
                <a:cs typeface="Courier New"/>
              </a:rPr>
              <a:t>21,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'Midfielder',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90,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7.8,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'T001');</a:t>
            </a:r>
            <a:endParaRPr sz="1200">
              <a:latin typeface="Courier New"/>
              <a:cs typeface="Courier New"/>
            </a:endParaRPr>
          </a:p>
          <a:p>
            <a:pPr marL="12700" marR="96520">
              <a:lnSpc>
                <a:spcPts val="1370"/>
              </a:lnSpc>
              <a:spcBef>
                <a:spcPts val="109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('P003',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'Michael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Brown',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'555-3456', </a:t>
            </a:r>
            <a:r>
              <a:rPr sz="1200" dirty="0">
                <a:latin typeface="Courier New"/>
                <a:cs typeface="Courier New"/>
              </a:rPr>
              <a:t>22,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'Defender',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180,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8.2,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'T001');</a:t>
            </a:r>
            <a:endParaRPr sz="1200">
              <a:latin typeface="Courier New"/>
              <a:cs typeface="Courier New"/>
            </a:endParaRPr>
          </a:p>
          <a:p>
            <a:pPr marL="12700" marR="187960">
              <a:lnSpc>
                <a:spcPts val="1370"/>
              </a:lnSpc>
              <a:spcBef>
                <a:spcPts val="105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('P004',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'Chris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Wilson',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'555-4567', </a:t>
            </a:r>
            <a:r>
              <a:rPr sz="1200" dirty="0">
                <a:latin typeface="Courier New"/>
                <a:cs typeface="Courier New"/>
              </a:rPr>
              <a:t>20,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'Forward',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150,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9.0,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'T002');</a:t>
            </a:r>
            <a:endParaRPr sz="1200">
              <a:latin typeface="Courier New"/>
              <a:cs typeface="Courier New"/>
            </a:endParaRPr>
          </a:p>
          <a:p>
            <a:pPr marL="12700" marR="279400">
              <a:lnSpc>
                <a:spcPts val="1340"/>
              </a:lnSpc>
              <a:spcBef>
                <a:spcPts val="110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('P005',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'Mark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Taylor',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'555-</a:t>
            </a:r>
            <a:r>
              <a:rPr sz="1200" spc="-10" dirty="0">
                <a:latin typeface="Courier New"/>
                <a:cs typeface="Courier New"/>
              </a:rPr>
              <a:t>5678', </a:t>
            </a:r>
            <a:r>
              <a:rPr sz="1200" dirty="0">
                <a:latin typeface="Courier New"/>
                <a:cs typeface="Courier New"/>
              </a:rPr>
              <a:t>19,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'Goalkeeper',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180,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8.7,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'T002');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370"/>
              </a:lnSpc>
              <a:spcBef>
                <a:spcPts val="108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('P006',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'Paul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White',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'555-</a:t>
            </a:r>
            <a:r>
              <a:rPr sz="1200" dirty="0">
                <a:latin typeface="Courier New"/>
                <a:cs typeface="Courier New"/>
              </a:rPr>
              <a:t>6789',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21, </a:t>
            </a:r>
            <a:r>
              <a:rPr sz="1200" dirty="0">
                <a:latin typeface="Courier New"/>
                <a:cs typeface="Courier New"/>
              </a:rPr>
              <a:t>'Defender',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160,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7.5,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'T002');</a:t>
            </a:r>
            <a:endParaRPr sz="1200">
              <a:latin typeface="Courier New"/>
              <a:cs typeface="Courier New"/>
            </a:endParaRPr>
          </a:p>
          <a:p>
            <a:pPr marL="12700" marR="187960">
              <a:lnSpc>
                <a:spcPts val="1370"/>
              </a:lnSpc>
              <a:spcBef>
                <a:spcPts val="105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('P007',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'Steven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Green',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'555-7890', </a:t>
            </a:r>
            <a:r>
              <a:rPr sz="1200" dirty="0">
                <a:latin typeface="Courier New"/>
                <a:cs typeface="Courier New"/>
              </a:rPr>
              <a:t>22,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'Midfielder',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170,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8.9,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'T003');</a:t>
            </a:r>
            <a:endParaRPr sz="1200">
              <a:latin typeface="Courier New"/>
              <a:cs typeface="Courier New"/>
            </a:endParaRPr>
          </a:p>
          <a:p>
            <a:pPr marL="12700" marR="187960">
              <a:lnSpc>
                <a:spcPts val="1340"/>
              </a:lnSpc>
              <a:spcBef>
                <a:spcPts val="110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('P008',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'Thomas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Brown',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'555-8901', </a:t>
            </a:r>
            <a:r>
              <a:rPr sz="1200" dirty="0">
                <a:latin typeface="Courier New"/>
                <a:cs typeface="Courier New"/>
              </a:rPr>
              <a:t>20,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'Forward',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130,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8.3,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'T003');</a:t>
            </a:r>
            <a:endParaRPr sz="1200">
              <a:latin typeface="Courier New"/>
              <a:cs typeface="Courier New"/>
            </a:endParaRPr>
          </a:p>
          <a:p>
            <a:pPr marL="12700" marR="187960">
              <a:lnSpc>
                <a:spcPts val="1340"/>
              </a:lnSpc>
              <a:spcBef>
                <a:spcPts val="111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('P009',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'Kevin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Miller',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'555-9012', </a:t>
            </a:r>
            <a:r>
              <a:rPr sz="1200" dirty="0">
                <a:latin typeface="Courier New"/>
                <a:cs typeface="Courier New"/>
              </a:rPr>
              <a:t>23,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'Defender',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180,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7.9,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'T003');</a:t>
            </a:r>
            <a:endParaRPr sz="1200">
              <a:latin typeface="Courier New"/>
              <a:cs typeface="Courier New"/>
            </a:endParaRPr>
          </a:p>
          <a:p>
            <a:pPr marL="12700" marR="187960">
              <a:lnSpc>
                <a:spcPts val="1370"/>
              </a:lnSpc>
              <a:spcBef>
                <a:spcPts val="108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('P010',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'Andrew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Davis',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'555-0123', </a:t>
            </a:r>
            <a:r>
              <a:rPr sz="1200" dirty="0">
                <a:latin typeface="Courier New"/>
                <a:cs typeface="Courier New"/>
              </a:rPr>
              <a:t>21,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'Goalkeeper',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180,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8.4,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'T004');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370"/>
              </a:lnSpc>
              <a:spcBef>
                <a:spcPts val="105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('P011',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'Robert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Johnson',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'555-1122', </a:t>
            </a:r>
            <a:r>
              <a:rPr sz="1200" dirty="0">
                <a:latin typeface="Courier New"/>
                <a:cs typeface="Courier New"/>
              </a:rPr>
              <a:t>22,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'Forward',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140,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8.6,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'T004');</a:t>
            </a:r>
            <a:endParaRPr sz="1200">
              <a:latin typeface="Courier New"/>
              <a:cs typeface="Courier New"/>
            </a:endParaRPr>
          </a:p>
          <a:p>
            <a:pPr marL="12700" marR="279400">
              <a:lnSpc>
                <a:spcPts val="1340"/>
              </a:lnSpc>
              <a:spcBef>
                <a:spcPts val="110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('P012',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'Richard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Lee',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'555-2233', </a:t>
            </a:r>
            <a:r>
              <a:rPr sz="1200" dirty="0">
                <a:latin typeface="Courier New"/>
                <a:cs typeface="Courier New"/>
              </a:rPr>
              <a:t>20,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'Midfielder',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150,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7.7,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'T004');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370"/>
              </a:lnSpc>
              <a:spcBef>
                <a:spcPts val="109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('P013',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'Lucas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Chen',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'555-</a:t>
            </a:r>
            <a:r>
              <a:rPr sz="1200" dirty="0">
                <a:latin typeface="Courier New"/>
                <a:cs typeface="Courier New"/>
              </a:rPr>
              <a:t>3344',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21, </a:t>
            </a:r>
            <a:r>
              <a:rPr sz="1200" dirty="0">
                <a:latin typeface="Courier New"/>
                <a:cs typeface="Courier New"/>
              </a:rPr>
              <a:t>'Forward',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135,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8.8,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'T005');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370"/>
              </a:lnSpc>
              <a:spcBef>
                <a:spcPts val="105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('P014',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'Jay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Wilson',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'555-</a:t>
            </a:r>
            <a:r>
              <a:rPr sz="1200" dirty="0">
                <a:latin typeface="Courier New"/>
                <a:cs typeface="Courier New"/>
              </a:rPr>
              <a:t>4455',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22, </a:t>
            </a:r>
            <a:r>
              <a:rPr sz="1200" dirty="0">
                <a:latin typeface="Courier New"/>
                <a:cs typeface="Courier New"/>
              </a:rPr>
              <a:t>'Defender',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180,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8.1,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'T005');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395"/>
              </a:lnSpc>
              <a:spcBef>
                <a:spcPts val="969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Player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('P015',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'Sam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Harris',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'555-</a:t>
            </a:r>
            <a:r>
              <a:rPr sz="1200" dirty="0">
                <a:latin typeface="Courier New"/>
                <a:cs typeface="Courier New"/>
              </a:rPr>
              <a:t>5566',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20,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395"/>
              </a:lnSpc>
            </a:pPr>
            <a:r>
              <a:rPr sz="1200" dirty="0">
                <a:latin typeface="Courier New"/>
                <a:cs typeface="Courier New"/>
              </a:rPr>
              <a:t>'Midfielder',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160,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7.9,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'T005');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Match_Player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6764" y="6762114"/>
            <a:ext cx="5878195" cy="34372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Referee</a:t>
            </a:r>
            <a:endParaRPr sz="1200">
              <a:latin typeface="Courier New"/>
              <a:cs typeface="Courier New"/>
            </a:endParaRPr>
          </a:p>
          <a:p>
            <a:pPr marL="12700" marR="96520">
              <a:lnSpc>
                <a:spcPts val="1340"/>
              </a:lnSpc>
              <a:spcBef>
                <a:spcPts val="113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Referee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('R001',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'Main',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'James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Wilson',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35, </a:t>
            </a:r>
            <a:r>
              <a:rPr sz="1200" dirty="0">
                <a:latin typeface="Courier New"/>
                <a:cs typeface="Courier New"/>
              </a:rPr>
              <a:t>'National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Referee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Association');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370"/>
              </a:lnSpc>
              <a:spcBef>
                <a:spcPts val="108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Referee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('R002',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'Assistant',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'Mary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Johnson', </a:t>
            </a:r>
            <a:r>
              <a:rPr sz="1200" dirty="0">
                <a:latin typeface="Courier New"/>
                <a:cs typeface="Courier New"/>
              </a:rPr>
              <a:t>32,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'State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Referee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Institute');</a:t>
            </a:r>
            <a:endParaRPr sz="1200">
              <a:latin typeface="Courier New"/>
              <a:cs typeface="Courier New"/>
            </a:endParaRPr>
          </a:p>
          <a:p>
            <a:pPr marL="12700" marR="96520">
              <a:lnSpc>
                <a:spcPts val="1370"/>
              </a:lnSpc>
              <a:spcBef>
                <a:spcPts val="105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Referee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('R003',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'Main',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'Robert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Davis',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40, </a:t>
            </a:r>
            <a:r>
              <a:rPr sz="1200" dirty="0">
                <a:latin typeface="Courier New"/>
                <a:cs typeface="Courier New"/>
              </a:rPr>
              <a:t>'National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Referee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Association');</a:t>
            </a:r>
            <a:endParaRPr sz="1200">
              <a:latin typeface="Courier New"/>
              <a:cs typeface="Courier New"/>
            </a:endParaRPr>
          </a:p>
          <a:p>
            <a:pPr marL="12700" marR="553720">
              <a:lnSpc>
                <a:spcPts val="1340"/>
              </a:lnSpc>
              <a:spcBef>
                <a:spcPts val="110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Referee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('R004',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'Assistant',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'Jennifer </a:t>
            </a:r>
            <a:r>
              <a:rPr sz="1200" dirty="0">
                <a:latin typeface="Courier New"/>
                <a:cs typeface="Courier New"/>
              </a:rPr>
              <a:t>Brown',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38,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'State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Referee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Institute');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370"/>
              </a:lnSpc>
              <a:spcBef>
                <a:spcPts val="109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Referee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('R005',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'Main',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'William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Clark',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36, </a:t>
            </a:r>
            <a:r>
              <a:rPr sz="1200" dirty="0">
                <a:latin typeface="Courier New"/>
                <a:cs typeface="Courier New"/>
              </a:rPr>
              <a:t>'National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Referee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Association');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Referee_Matches</a:t>
            </a:r>
            <a:endParaRPr sz="1200">
              <a:latin typeface="Courier New"/>
              <a:cs typeface="Courier New"/>
            </a:endParaRPr>
          </a:p>
          <a:p>
            <a:pPr marR="78105" algn="ct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67714" y="1223641"/>
          <a:ext cx="4544693" cy="5125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0029">
                <a:tc>
                  <a:txBody>
                    <a:bodyPr/>
                    <a:lstStyle/>
                    <a:p>
                      <a:pPr marR="6350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'P002');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'P003');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'P004');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'P005');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'P007');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'P008');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'P010');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'P011');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'P003');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'P007');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'P009');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('M005',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'P013');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('M005',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'P014');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('M005',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'P010');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Match_Player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('M005',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'P012');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67714" y="1223641"/>
          <a:ext cx="4820284" cy="29565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0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0029">
                <a:tc>
                  <a:txBody>
                    <a:bodyPr/>
                    <a:lstStyle/>
                    <a:p>
                      <a:pPr marR="6350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Referee_Matches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('R001',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Referee_Matches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('R002',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Referee_Matches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('R003',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'M002');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Referee_Matches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('R004',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'M002');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Referee_Matches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('R001',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'M003');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Referee_Matches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('R002',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'M003');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Referee_Matches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('R005',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'M004');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Referee_Matches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('R004',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'M004');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Referee_Matches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('R003',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'M005');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029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Referee_Matches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('R002',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'M005');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86764" y="4594097"/>
            <a:ext cx="5877560" cy="323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Punishment</a:t>
            </a:r>
            <a:endParaRPr sz="1200">
              <a:latin typeface="Courier New"/>
              <a:cs typeface="Courier New"/>
            </a:endParaRPr>
          </a:p>
          <a:p>
            <a:pPr marL="12700" marR="368935">
              <a:lnSpc>
                <a:spcPts val="1370"/>
              </a:lnSpc>
              <a:spcBef>
                <a:spcPts val="109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Punishment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('PU001',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'Yellow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Card',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'Fall </a:t>
            </a:r>
            <a:r>
              <a:rPr sz="1200" dirty="0">
                <a:latin typeface="Courier New"/>
                <a:cs typeface="Courier New"/>
              </a:rPr>
              <a:t>2024',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'R001');</a:t>
            </a:r>
            <a:endParaRPr sz="1200">
              <a:latin typeface="Courier New"/>
              <a:cs typeface="Courier New"/>
            </a:endParaRPr>
          </a:p>
          <a:p>
            <a:pPr marL="12700" marR="5080">
              <a:lnSpc>
                <a:spcPts val="1340"/>
              </a:lnSpc>
              <a:spcBef>
                <a:spcPts val="110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Punishment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('PU002',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'Red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Card',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'Fall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2024', 'R001');</a:t>
            </a:r>
            <a:endParaRPr sz="1200">
              <a:latin typeface="Courier New"/>
              <a:cs typeface="Courier New"/>
            </a:endParaRPr>
          </a:p>
          <a:p>
            <a:pPr marL="12700" marR="96520">
              <a:lnSpc>
                <a:spcPts val="1370"/>
              </a:lnSpc>
              <a:spcBef>
                <a:spcPts val="109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Punishment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('PU003',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'Verbal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Warning',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'Fall </a:t>
            </a:r>
            <a:r>
              <a:rPr sz="1200" dirty="0">
                <a:latin typeface="Courier New"/>
                <a:cs typeface="Courier New"/>
              </a:rPr>
              <a:t>2024',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'R003');</a:t>
            </a:r>
            <a:endParaRPr sz="1200">
              <a:latin typeface="Courier New"/>
              <a:cs typeface="Courier New"/>
            </a:endParaRPr>
          </a:p>
          <a:p>
            <a:pPr marL="12700" marR="462280">
              <a:lnSpc>
                <a:spcPts val="1370"/>
              </a:lnSpc>
              <a:spcBef>
                <a:spcPts val="1050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Punishment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('PU004',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'Match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Suspension', </a:t>
            </a:r>
            <a:r>
              <a:rPr sz="1200" dirty="0">
                <a:latin typeface="Courier New"/>
                <a:cs typeface="Courier New"/>
              </a:rPr>
              <a:t>'Fall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2024',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'R003');</a:t>
            </a:r>
            <a:endParaRPr sz="1200">
              <a:latin typeface="Courier New"/>
              <a:cs typeface="Courier New"/>
            </a:endParaRPr>
          </a:p>
          <a:p>
            <a:pPr marL="12700" marR="370840">
              <a:lnSpc>
                <a:spcPts val="1370"/>
              </a:lnSpc>
              <a:spcBef>
                <a:spcPts val="1055"/>
              </a:spcBef>
            </a:pP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Punishment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VALUES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('PU005',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'Yellow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Card',</a:t>
            </a:r>
            <a:r>
              <a:rPr sz="1200" spc="-8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'Fall </a:t>
            </a:r>
            <a:r>
              <a:rPr sz="1200" dirty="0">
                <a:latin typeface="Courier New"/>
                <a:cs typeface="Courier New"/>
              </a:rPr>
              <a:t>2024',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'R005');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Match_Punishment</a:t>
            </a:r>
            <a:endParaRPr sz="12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67714" y="7974072"/>
          <a:ext cx="5002528" cy="17195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1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R="6350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Match_Punishment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'PU001');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Match_Punishment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'PU002');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Match_Punishment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'PU003');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Match_Punishment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'PU001');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Match_Punishment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('M004',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'PU005');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29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Match_Punishment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('M005',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'PU004');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67714" y="7419082"/>
          <a:ext cx="5186679" cy="2766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0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R="6350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Contributed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('P001',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'S001',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Contributed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('P004',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'S002',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Contributed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('P007',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'S003',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'M002');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Contributed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('P011',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'S004',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'M002');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Contributed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('P002',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'S005',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'M003');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Contributed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('P008',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'S006',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'M003');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Contributed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('P012',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'S007',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'M004');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Contributed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('P013',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'S008',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'M005');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ts val="1360"/>
                        </a:lnSpc>
                        <a:spcBef>
                          <a:spcPts val="88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886764" y="1185417"/>
            <a:ext cx="29521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Player_Punishment</a:t>
            </a:r>
            <a:endParaRPr sz="12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67714" y="1531870"/>
          <a:ext cx="5093967" cy="17195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6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1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R="6350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Player_Punishment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('P002',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'PU001');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Player_Punishment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('P004',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'PU002');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Player_Punishment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('P007',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'PU003');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Player_Punishment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('P001',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'PU001');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Player_Punishment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('P006',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'PU005');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29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Player_Punishment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('P013',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'PU004');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86764" y="3664457"/>
            <a:ext cx="1854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Score</a:t>
            </a:r>
            <a:endParaRPr sz="12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67714" y="4010529"/>
          <a:ext cx="5276849" cy="265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35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R="6350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Score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('S001',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1,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25,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40"/>
                        </a:lnSpc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'T001');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Score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('S002',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2,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67,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'M001',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'T002');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Score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('S003',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1,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38,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'T003');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Score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('S004',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3,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72,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'M002',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'T004');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Score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('S005',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2,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45,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'T001');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Score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('S006',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1,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56,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'M003',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'T003');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Score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('S007',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2,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30,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'M004',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'T004');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Score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('S008',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3,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65,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'M005',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'T005');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INSERT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0" dirty="0">
                          <a:latin typeface="Courier New"/>
                          <a:cs typeface="Courier New"/>
                        </a:rPr>
                        <a:t>INTO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Score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VALUES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('S009',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1,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25" dirty="0">
                          <a:latin typeface="Courier New"/>
                          <a:cs typeface="Courier New"/>
                        </a:rPr>
                        <a:t>80,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'M005',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spc="-10" dirty="0">
                          <a:latin typeface="Courier New"/>
                          <a:cs typeface="Courier New"/>
                        </a:rPr>
                        <a:t>'T004');</a:t>
                      </a:r>
                      <a:endParaRPr sz="1200">
                        <a:latin typeface="Courier New"/>
                        <a:cs typeface="Courier New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86764" y="7073010"/>
            <a:ext cx="2403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ourier New"/>
                <a:cs typeface="Courier New"/>
              </a:rPr>
              <a:t>-</a:t>
            </a:r>
            <a:r>
              <a:rPr sz="1200" dirty="0">
                <a:latin typeface="Courier New"/>
                <a:cs typeface="Courier New"/>
              </a:rPr>
              <a:t>-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Insert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into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Contributed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82369"/>
            <a:ext cx="472186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INSERT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INTO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Contributed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VALUES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('P010',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'S009',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'M005');</a:t>
            </a:r>
            <a:endParaRPr sz="1100">
              <a:latin typeface="Courier New"/>
              <a:cs typeface="Courier New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59" y="5120639"/>
            <a:ext cx="6896100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7D0B87-708E-5096-8B2C-27BF6C497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081DD8-22E0-9933-50FB-1D5EA9CE0A7D}"/>
              </a:ext>
            </a:extLst>
          </p:cNvPr>
          <p:cNvSpPr txBox="1"/>
          <p:nvPr/>
        </p:nvSpPr>
        <p:spPr>
          <a:xfrm>
            <a:off x="349250" y="546100"/>
            <a:ext cx="6934200" cy="520565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74320" marR="0">
              <a:spcBef>
                <a:spcPts val="205"/>
              </a:spcBef>
              <a:buNone/>
            </a:pPr>
            <a:r>
              <a:rPr lang="en-US" sz="1800" b="1" kern="0" spc="-10" dirty="0">
                <a:solidFill>
                  <a:srgbClr val="00529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Acknowledgement:</a:t>
            </a:r>
            <a:endParaRPr lang="en-US" sz="1800" b="1" kern="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13055" marR="768350" indent="0" algn="ctr">
              <a:lnSpc>
                <a:spcPts val="1455"/>
              </a:lnSpc>
              <a:spcBef>
                <a:spcPts val="1135"/>
              </a:spcBef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en-US" sz="1800" spc="10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express</a:t>
            </a:r>
            <a:r>
              <a:rPr lang="en-US" sz="1800" spc="1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our</a:t>
            </a:r>
            <a:r>
              <a:rPr lang="en-US" sz="1800" spc="10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deepest</a:t>
            </a:r>
            <a:r>
              <a:rPr lang="en-US" sz="1800" spc="1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gratitude</a:t>
            </a:r>
            <a:r>
              <a:rPr lang="en-US" sz="1800" spc="1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en-US" sz="1800" spc="10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our</a:t>
            </a:r>
            <a:r>
              <a:rPr lang="en-US" sz="1800" spc="1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respected</a:t>
            </a:r>
            <a:endParaRPr lang="en-US" spc="105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13055" marR="768350" indent="0" algn="ctr">
              <a:lnSpc>
                <a:spcPts val="1455"/>
              </a:lnSpc>
              <a:spcBef>
                <a:spcPts val="1135"/>
              </a:spcBef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Supervisor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800" b="1" spc="11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spc="-25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Mr.</a:t>
            </a:r>
            <a:endParaRPr lang="en-US" sz="1800" b="1" dirty="0">
              <a:solidFill>
                <a:schemeClr val="accent5">
                  <a:lumMod val="5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5690" marR="1531620" indent="-635" algn="ctr">
              <a:lnSpc>
                <a:spcPct val="98000"/>
              </a:lnSpc>
              <a:spcBef>
                <a:spcPts val="380"/>
              </a:spcBef>
              <a:buNone/>
            </a:pPr>
            <a:r>
              <a:rPr lang="en-US" sz="1800" b="1" dirty="0" err="1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Ishtiaque</a:t>
            </a:r>
            <a:r>
              <a:rPr lang="en-US" sz="1800" b="1" spc="400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Zahid,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invaluable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guidance,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support,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expert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advice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throughout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project.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insightful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feedback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encouragement were instrumental in helping us overcome challenges and achieve our objectives.</a:t>
            </a:r>
          </a:p>
          <a:p>
            <a:pPr marL="310515" marR="781685" algn="ctr">
              <a:lnSpc>
                <a:spcPts val="1455"/>
              </a:lnSpc>
              <a:spcBef>
                <a:spcPts val="1390"/>
              </a:spcBef>
              <a:buNone/>
            </a:pPr>
            <a:endParaRPr lang="en-US" sz="18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10515" marR="781685" algn="ctr">
              <a:lnSpc>
                <a:spcPts val="1455"/>
              </a:lnSpc>
              <a:spcBef>
                <a:spcPts val="1390"/>
              </a:spcBef>
              <a:buNone/>
            </a:pPr>
            <a:endParaRPr lang="en-US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10515" marR="781685" algn="ctr">
              <a:lnSpc>
                <a:spcPts val="1455"/>
              </a:lnSpc>
              <a:spcBef>
                <a:spcPts val="1390"/>
              </a:spcBef>
              <a:buNone/>
            </a:pP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MD</a:t>
            </a:r>
            <a:r>
              <a:rPr lang="en-US" sz="1800" i="1" spc="1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Salek</a:t>
            </a:r>
            <a:r>
              <a:rPr lang="en-US" sz="1800" i="1" spc="1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Miah</a:t>
            </a:r>
            <a:r>
              <a:rPr lang="en-US" sz="1800" i="1" spc="1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&amp;</a:t>
            </a:r>
            <a:r>
              <a:rPr lang="en-US" sz="1800" i="1" spc="1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Sourav</a:t>
            </a:r>
            <a:r>
              <a:rPr lang="en-US" sz="1800" i="1" spc="1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i="1" spc="-2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Ahmed</a:t>
            </a:r>
            <a:endParaRPr lang="en-US" sz="18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12420" marR="768350" indent="0" algn="ctr">
              <a:lnSpc>
                <a:spcPts val="1445"/>
              </a:lnSpc>
              <a:spcBef>
                <a:spcPts val="380"/>
              </a:spcBef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</a:t>
            </a:r>
            <a:r>
              <a:rPr lang="en-US" sz="1800" spc="14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en-US" sz="1800" spc="15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Statistics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0" marR="2169795" indent="0" algn="ctr">
              <a:lnSpc>
                <a:spcPct val="98000"/>
              </a:lnSpc>
              <a:spcBef>
                <a:spcPts val="380"/>
              </a:spcBef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Shahjalal University of Science and Technology, 28 March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515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4038</Words>
  <Application>Microsoft Office PowerPoint</Application>
  <PresentationFormat>Custom</PresentationFormat>
  <Paragraphs>827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Times New Roman</vt:lpstr>
      <vt:lpstr>Office Theme</vt:lpstr>
      <vt:lpstr>PowerPoint Presentation</vt:lpstr>
      <vt:lpstr>Contents</vt:lpstr>
      <vt:lpstr>PowerPoint Presentation</vt:lpstr>
      <vt:lpstr>Chapter 1</vt:lpstr>
      <vt:lpstr>METHODOLOGY</vt:lpstr>
      <vt:lpstr>Chapter 2</vt:lpstr>
      <vt:lpstr>PowerPoint Presentation</vt:lpstr>
      <vt:lpstr>Chapter 3</vt:lpstr>
      <vt:lpstr>PowerPoint Presentation</vt:lpstr>
      <vt:lpstr>PowerPoint Presentation</vt:lpstr>
      <vt:lpstr>Bibliography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Md Salek</dc:creator>
  <cp:lastModifiedBy>Md Salek</cp:lastModifiedBy>
  <cp:revision>4</cp:revision>
  <dcterms:created xsi:type="dcterms:W3CDTF">2025-05-19T10:38:45Z</dcterms:created>
  <dcterms:modified xsi:type="dcterms:W3CDTF">2025-05-19T12:21:08Z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2025-05-19T00:00:00Z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2025-05-19T00:00:00Z</vt:filetime>
  </property>
  <property fmtid="{D5CDD505-2E9C-101B-9397-08002B2CF9AE}" pid="5" name="Producer">
    <vt:lpwstr>www.ilovepdf.com</vt:lpwstr>
  </property>
</Properties>
</file>